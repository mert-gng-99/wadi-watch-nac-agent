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33F"/>
                </a:solidFill>
                <a:latin typeface="Calibri"/>
              </a:defRPr>
            </a:pPr>
            <a:r>
              <a:rPr sz="1400" b="0" i="0" u="none" strike="noStrike">
                <a:solidFill>
                  <a:srgbClr val="10233F"/>
                </a:solidFill>
                <a:latin typeface="Calibri"/>
              </a:rPr>
              <a:t>Our model of minutes to a checked search list</a:t>
            </a:r>
          </a:p>
        </c:rich>
      </c:tx>
      <c:layout/>
      <c:overlay val="0"/>
    </c:title>
    <c:autoTitleDeleted val="0"/>
    <c:plotArea>
      <c:layout/>
      <c:barChart>
        <c:barDir val="col"/>
        <c:grouping val="clustered"/>
        <c:varyColors val="0"/>
        <c:ser>
          <c:idx val="0"/>
          <c:order val="0"/>
          <c:tx>
            <c:strRef>
              <c:f>Sheet1!$B$1</c:f>
              <c:strCache>
                <c:ptCount val="1"/>
                <c:pt idx="0">
                  <c:v>Minutes</c:v>
                </c:pt>
              </c:strCache>
            </c:strRef>
          </c:tx>
          <c:spPr>
            <a:solidFill>
              <a:srgbClr val="1C7293"/>
            </a:solidFill>
            <a:effectLst/>
          </c:spPr>
          <c:invertIfNegative val="0"/>
          <c:dLbls>
            <c:numFmt formatCode="#,##0" sourceLinked="0"/>
            <c:txPr>
              <a:bodyPr/>
              <a:lstStyle/>
              <a:p>
                <a:pPr>
                  <a:defRPr b="0" i="0" strike="noStrike" sz="1400" u="none">
                    <a:solidFill>
                      <a:srgbClr val="10233F"/>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E8A33D"/>
              </a:solidFill>
              <a:effectLst/>
            </c:spPr>
          </c:dPt>
          <c:cat>
            <c:multiLvlStrRef>
              <c:f>Sheet1!$A$2:$A$3</c:f>
              <c:multiLvlStrCache>
                <c:ptCount val="2"/>
                <c:lvl>
                  <c:pt idx="0">
                    <c:v>Broadcast alone</c:v>
                  </c:pt>
                  <c:pt idx="1">
                    <c:v>With Wadi Watch</c:v>
                  </c:pt>
                </c:lvl>
              </c:multiLvlStrCache>
            </c:multiLvlStrRef>
          </c:cat>
          <c:val>
            <c:numRef>
              <c:f>Sheet1!$B$2:$B$3</c:f>
              <c:numCache>
                <c:formatCode>General</c:formatCode>
                <c:ptCount val="2"/>
                <c:pt idx="0">
                  <c:v>60</c:v>
                </c:pt>
                <c:pt idx="1">
                  <c:v>6</c:v>
                </c:pt>
              </c:numCache>
            </c:numRef>
          </c:val>
        </c:ser>
        <c:dLbls>
          <c:numFmt formatCode="#,##0" sourceLinked="0"/>
          <c:txPr>
            <a:bodyPr/>
            <a:lstStyle/>
            <a:p>
              <a:pPr>
                <a:defRPr b="0" i="0" strike="noStrike" sz="1400" u="none">
                  <a:solidFill>
                    <a:srgbClr val="10233F"/>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748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1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74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wadi is a dry valley that fills with water in minutes. Do not claim we warn everybody. We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cell broadcast first is a credibility move. It shows we know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Broadcast is the shout, we are the answer. That is the whole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a weak idea became an honest one. Say the constraint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is the value. Turning a long list into a short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Slicing is the part judges rarely see demoed. Spend one extra sentence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the first objection from any city body. Answer it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 to broadcast, we do not replace it. Never say the opposite.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is a model. The wider hazard list is the growth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card is the honest limit of this idea. Say it before a judge finds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Cities buy slowly. Lead with the private buyer who signs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line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3F"/>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C7293">
              <a:alpha val="55000"/>
            </a:srgbClr>
          </a:solidFill>
          <a:ln w="12700">
            <a:solidFill>
              <a:srgbClr val="1C7293">
                <a:alpha val="0"/>
              </a:srgbClr>
            </a:solidFill>
            <a:prstDash val="solid"/>
          </a:ln>
        </p:spPr>
      </p:sp>
      <p:sp>
        <p:nvSpPr>
          <p:cNvPr id="3" name="Shape 1"/>
          <p:cNvSpPr/>
          <p:nvPr/>
        </p:nvSpPr>
        <p:spPr>
          <a:xfrm>
            <a:off x="10881360" y="4206240"/>
            <a:ext cx="2743200" cy="2743200"/>
          </a:xfrm>
          <a:prstGeom prst="ellipse">
            <a:avLst/>
          </a:prstGeom>
          <a:solidFill>
            <a:srgbClr val="E8A33D">
              <a:alpha val="30000"/>
            </a:srgbClr>
          </a:solidFill>
          <a:ln w="12700">
            <a:solidFill>
              <a:srgbClr val="E8A33D">
                <a:alpha val="0"/>
              </a:srgbClr>
            </a:solidFill>
            <a:prstDash val="solid"/>
          </a:ln>
        </p:spPr>
      </p:sp>
      <p:sp>
        <p:nvSpPr>
          <p:cNvPr id="4" name="Text 2"/>
          <p:cNvSpPr/>
          <p:nvPr/>
        </p:nvSpPr>
        <p:spPr>
          <a:xfrm>
            <a:off x="822960" y="1371600"/>
            <a:ext cx="82296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MENA IGNITE HACKATHON 2026</a:t>
            </a:r>
            <a:endParaRPr lang="en-US" sz="1300" dirty="0"/>
          </a:p>
        </p:txBody>
      </p:sp>
      <p:sp>
        <p:nvSpPr>
          <p:cNvPr id="5" name="Text 3"/>
          <p:cNvSpPr/>
          <p:nvPr/>
        </p:nvSpPr>
        <p:spPr>
          <a:xfrm>
            <a:off x="822960" y="1828800"/>
            <a:ext cx="8595360" cy="137160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Wadi Watch</a:t>
            </a:r>
            <a:endParaRPr lang="en-US" sz="6800" dirty="0"/>
          </a:p>
        </p:txBody>
      </p:sp>
      <p:sp>
        <p:nvSpPr>
          <p:cNvPr id="6" name="Text 4"/>
          <p:cNvSpPr/>
          <p:nvPr/>
        </p:nvSpPr>
        <p:spPr>
          <a:xfrm>
            <a:off x="822960" y="3246120"/>
            <a:ext cx="8229600" cy="1005840"/>
          </a:xfrm>
          <a:prstGeom prst="rect">
            <a:avLst/>
          </a:prstGeom>
          <a:noFill/>
          <a:ln/>
        </p:spPr>
        <p:txBody>
          <a:bodyPr wrap="square" lIns="0" tIns="0" rIns="0" bIns="0" rtlCol="0" anchor="ctr"/>
          <a:lstStyle/>
          <a:p>
            <a:pPr indent="0" marL="0">
              <a:lnSpc>
                <a:spcPct val="120000"/>
              </a:lnSpc>
              <a:buNone/>
            </a:pPr>
            <a:r>
              <a:rPr lang="en-US" sz="2100" dirty="0">
                <a:solidFill>
                  <a:srgbClr val="C5D8E4"/>
                </a:solidFill>
                <a:latin typeface="Calibri" pitchFamily="34" charset="0"/>
                <a:ea typeface="Calibri" pitchFamily="34" charset="-122"/>
                <a:cs typeface="Calibri" pitchFamily="34" charset="-120"/>
              </a:rPr>
              <a:t>A flood agent for the people a broadcast cannot help. It checks who was really reached and hands the rescue team a short list.</a:t>
            </a:r>
            <a:endParaRPr lang="en-US" sz="2100" dirty="0"/>
          </a:p>
        </p:txBody>
      </p:sp>
      <p:sp>
        <p:nvSpPr>
          <p:cNvPr id="7" name="Shape 5"/>
          <p:cNvSpPr/>
          <p:nvPr/>
        </p:nvSpPr>
        <p:spPr>
          <a:xfrm>
            <a:off x="822960" y="4617720"/>
            <a:ext cx="6035040" cy="566928"/>
          </a:xfrm>
          <a:prstGeom prst="roundRect">
            <a:avLst>
              <a:gd name="adj" fmla="val 48387"/>
            </a:avLst>
          </a:prstGeom>
          <a:solidFill>
            <a:srgbClr val="1C7293"/>
          </a:solidFill>
          <a:ln w="12700">
            <a:solidFill>
              <a:srgbClr val="1C7293"/>
            </a:solidFill>
            <a:prstDash val="solid"/>
          </a:ln>
        </p:spPr>
      </p:sp>
      <p:sp>
        <p:nvSpPr>
          <p:cNvPr id="8" name="Text 6"/>
          <p:cNvSpPr/>
          <p:nvPr/>
        </p:nvSpPr>
        <p:spPr>
          <a:xfrm>
            <a:off x="822960" y="4617720"/>
            <a:ext cx="60350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Theme 6   Climate Resilience and Environmental Monitoring</a:t>
            </a:r>
            <a:endParaRPr lang="en-US" sz="1300" dirty="0"/>
          </a:p>
        </p:txBody>
      </p:sp>
      <p:sp>
        <p:nvSpPr>
          <p:cNvPr id="9" name="Text 7"/>
          <p:cNvSpPr/>
          <p:nvPr/>
        </p:nvSpPr>
        <p:spPr>
          <a:xfrm>
            <a:off x="822960" y="5806440"/>
            <a:ext cx="8229600" cy="365760"/>
          </a:xfrm>
          <a:prstGeom prst="rect">
            <a:avLst/>
          </a:prstGeom>
          <a:noFill/>
          <a:ln/>
        </p:spPr>
        <p:txBody>
          <a:bodyPr wrap="square" lIns="0" tIns="0" rIns="0" bIns="0" rtlCol="0" anchor="ctr"/>
          <a:lstStyle/>
          <a:p>
            <a:pPr indent="0" marL="0">
              <a:buNone/>
            </a:pPr>
            <a:r>
              <a:rPr lang="en-US" sz="1200" dirty="0">
                <a:solidFill>
                  <a:srgbClr val="C5D8E4"/>
                </a:solidFill>
                <a:latin typeface="Calibri" pitchFamily="34" charset="0"/>
                <a:ea typeface="Calibri" pitchFamily="34" charset="-122"/>
                <a:cs typeface="Calibri" pitchFamily="34" charset="-120"/>
              </a:rPr>
              <a:t>Built on GSMA Open Gateway CAMARA APIs and Nokia Network as Code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Broadcast alerts stop where the real work begins</a:t>
            </a:r>
            <a:endParaRPr lang="en-US" sz="3600" dirty="0"/>
          </a:p>
        </p:txBody>
      </p:sp>
      <p:sp>
        <p:nvSpPr>
          <p:cNvPr id="4" name="Shape 2"/>
          <p:cNvSpPr/>
          <p:nvPr/>
        </p:nvSpPr>
        <p:spPr>
          <a:xfrm>
            <a:off x="594360" y="1645920"/>
            <a:ext cx="3444240" cy="1417320"/>
          </a:xfrm>
          <a:prstGeom prst="roundRect">
            <a:avLst>
              <a:gd name="adj" fmla="val 7742"/>
            </a:avLst>
          </a:prstGeom>
          <a:solidFill>
            <a:srgbClr val="EDF3F6"/>
          </a:solidFill>
          <a:ln w="12700">
            <a:solidFill>
              <a:srgbClr val="EDF3F6"/>
            </a:solidFill>
            <a:prstDash val="solid"/>
          </a:ln>
        </p:spPr>
      </p:sp>
      <p:sp>
        <p:nvSpPr>
          <p:cNvPr id="5" name="Text 3"/>
          <p:cNvSpPr/>
          <p:nvPr/>
        </p:nvSpPr>
        <p:spPr>
          <a:xfrm>
            <a:off x="822960" y="1792224"/>
            <a:ext cx="2987040" cy="640080"/>
          </a:xfrm>
          <a:prstGeom prst="rect">
            <a:avLst/>
          </a:prstGeom>
          <a:noFill/>
          <a:ln/>
        </p:spPr>
        <p:txBody>
          <a:bodyPr wrap="square" lIns="0" tIns="0" rIns="0" bIns="0" rtlCol="0" anchor="ctr"/>
          <a:lstStyle/>
          <a:p>
            <a:pPr indent="0" marL="0">
              <a:buNone/>
            </a:pPr>
            <a:r>
              <a:rPr lang="en-US" sz="3400" b="1" dirty="0">
                <a:solidFill>
                  <a:srgbClr val="1C7293"/>
                </a:solidFill>
                <a:latin typeface="Cambria" pitchFamily="34" charset="0"/>
                <a:ea typeface="Cambria" pitchFamily="34" charset="-122"/>
                <a:cs typeface="Cambria" pitchFamily="34" charset="-120"/>
              </a:rPr>
              <a:t>Minutes</a:t>
            </a:r>
            <a:endParaRPr lang="en-US" sz="3400" dirty="0"/>
          </a:p>
        </p:txBody>
      </p:sp>
      <p:sp>
        <p:nvSpPr>
          <p:cNvPr id="6" name="Text 4"/>
          <p:cNvSpPr/>
          <p:nvPr/>
        </p:nvSpPr>
        <p:spPr>
          <a:xfrm>
            <a:off x="822960" y="2432304"/>
            <a:ext cx="2987040" cy="502920"/>
          </a:xfrm>
          <a:prstGeom prst="rect">
            <a:avLst/>
          </a:prstGeom>
          <a:noFill/>
          <a:ln/>
        </p:spPr>
        <p:txBody>
          <a:bodyPr wrap="square" lIns="0" tIns="0" rIns="0" bIns="0" rtlCol="0" anchor="ctr"/>
          <a:lstStyle/>
          <a:p>
            <a:pPr indent="0" marL="0">
              <a:lnSpc>
                <a:spcPct val="110000"/>
              </a:lnSpc>
              <a:buNone/>
            </a:pPr>
            <a:r>
              <a:rPr lang="en-US" sz="1250" dirty="0">
                <a:solidFill>
                  <a:srgbClr val="62748A"/>
                </a:solidFill>
                <a:latin typeface="Calibri" pitchFamily="34" charset="0"/>
                <a:ea typeface="Calibri" pitchFamily="34" charset="-122"/>
                <a:cs typeface="Calibri" pitchFamily="34" charset="-120"/>
              </a:rPr>
              <a:t>is all a dry valley needs to become a deep river</a:t>
            </a:r>
            <a:endParaRPr lang="en-US" sz="1250" dirty="0"/>
          </a:p>
        </p:txBody>
      </p:sp>
      <p:sp>
        <p:nvSpPr>
          <p:cNvPr id="7" name="Shape 5"/>
          <p:cNvSpPr/>
          <p:nvPr/>
        </p:nvSpPr>
        <p:spPr>
          <a:xfrm>
            <a:off x="4358640" y="1645920"/>
            <a:ext cx="3444240" cy="1417320"/>
          </a:xfrm>
          <a:prstGeom prst="roundRect">
            <a:avLst>
              <a:gd name="adj" fmla="val 7742"/>
            </a:avLst>
          </a:prstGeom>
          <a:solidFill>
            <a:srgbClr val="EDF3F6"/>
          </a:solidFill>
          <a:ln w="12700">
            <a:solidFill>
              <a:srgbClr val="EDF3F6"/>
            </a:solidFill>
            <a:prstDash val="solid"/>
          </a:ln>
        </p:spPr>
      </p:sp>
      <p:sp>
        <p:nvSpPr>
          <p:cNvPr id="8" name="Text 6"/>
          <p:cNvSpPr/>
          <p:nvPr/>
        </p:nvSpPr>
        <p:spPr>
          <a:xfrm>
            <a:off x="4587240" y="1792224"/>
            <a:ext cx="2987040" cy="640080"/>
          </a:xfrm>
          <a:prstGeom prst="rect">
            <a:avLst/>
          </a:prstGeom>
          <a:noFill/>
          <a:ln/>
        </p:spPr>
        <p:txBody>
          <a:bodyPr wrap="square" lIns="0" tIns="0" rIns="0" bIns="0" rtlCol="0" anchor="ctr"/>
          <a:lstStyle/>
          <a:p>
            <a:pPr indent="0" marL="0">
              <a:buNone/>
            </a:pPr>
            <a:r>
              <a:rPr lang="en-US" sz="3400" b="1" dirty="0">
                <a:solidFill>
                  <a:srgbClr val="1C7293"/>
                </a:solidFill>
                <a:latin typeface="Cambria" pitchFamily="34" charset="0"/>
                <a:ea typeface="Cambria" pitchFamily="34" charset="-122"/>
                <a:cs typeface="Cambria" pitchFamily="34" charset="-120"/>
              </a:rPr>
              <a:t>One way</a:t>
            </a:r>
            <a:endParaRPr lang="en-US" sz="3400" dirty="0"/>
          </a:p>
        </p:txBody>
      </p:sp>
      <p:sp>
        <p:nvSpPr>
          <p:cNvPr id="9" name="Text 7"/>
          <p:cNvSpPr/>
          <p:nvPr/>
        </p:nvSpPr>
        <p:spPr>
          <a:xfrm>
            <a:off x="4587240" y="2432304"/>
            <a:ext cx="2987040" cy="502920"/>
          </a:xfrm>
          <a:prstGeom prst="rect">
            <a:avLst/>
          </a:prstGeom>
          <a:noFill/>
          <a:ln/>
        </p:spPr>
        <p:txBody>
          <a:bodyPr wrap="square" lIns="0" tIns="0" rIns="0" bIns="0" rtlCol="0" anchor="ctr"/>
          <a:lstStyle/>
          <a:p>
            <a:pPr indent="0" marL="0">
              <a:lnSpc>
                <a:spcPct val="110000"/>
              </a:lnSpc>
              <a:buNone/>
            </a:pPr>
            <a:r>
              <a:rPr lang="en-US" sz="1250" dirty="0">
                <a:solidFill>
                  <a:srgbClr val="62748A"/>
                </a:solidFill>
                <a:latin typeface="Calibri" pitchFamily="34" charset="0"/>
                <a:ea typeface="Calibri" pitchFamily="34" charset="-122"/>
                <a:cs typeface="Calibri" pitchFamily="34" charset="-120"/>
              </a:rPr>
              <a:t>cell broadcast goes out and nothing ever comes back</a:t>
            </a:r>
            <a:endParaRPr lang="en-US" sz="1250" dirty="0"/>
          </a:p>
        </p:txBody>
      </p:sp>
      <p:sp>
        <p:nvSpPr>
          <p:cNvPr id="10" name="Shape 8"/>
          <p:cNvSpPr/>
          <p:nvPr/>
        </p:nvSpPr>
        <p:spPr>
          <a:xfrm>
            <a:off x="8122920" y="1645920"/>
            <a:ext cx="3444240" cy="1417320"/>
          </a:xfrm>
          <a:prstGeom prst="roundRect">
            <a:avLst>
              <a:gd name="adj" fmla="val 7742"/>
            </a:avLst>
          </a:prstGeom>
          <a:solidFill>
            <a:srgbClr val="EDF3F6"/>
          </a:solidFill>
          <a:ln w="12700">
            <a:solidFill>
              <a:srgbClr val="EDF3F6"/>
            </a:solidFill>
            <a:prstDash val="solid"/>
          </a:ln>
        </p:spPr>
      </p:sp>
      <p:sp>
        <p:nvSpPr>
          <p:cNvPr id="11" name="Text 9"/>
          <p:cNvSpPr/>
          <p:nvPr/>
        </p:nvSpPr>
        <p:spPr>
          <a:xfrm>
            <a:off x="8351520" y="1792224"/>
            <a:ext cx="2987040" cy="640080"/>
          </a:xfrm>
          <a:prstGeom prst="rect">
            <a:avLst/>
          </a:prstGeom>
          <a:noFill/>
          <a:ln/>
        </p:spPr>
        <p:txBody>
          <a:bodyPr wrap="square" lIns="0" tIns="0" rIns="0" bIns="0" rtlCol="0" anchor="ctr"/>
          <a:lstStyle/>
          <a:p>
            <a:pPr indent="0" marL="0">
              <a:buNone/>
            </a:pPr>
            <a:r>
              <a:rPr lang="en-US" sz="3400" b="1" dirty="0">
                <a:solidFill>
                  <a:srgbClr val="1C7293"/>
                </a:solidFill>
                <a:latin typeface="Cambria" pitchFamily="34" charset="0"/>
                <a:ea typeface="Cambria" pitchFamily="34" charset="-122"/>
                <a:cs typeface="Cambria" pitchFamily="34" charset="-120"/>
              </a:rPr>
              <a:t>First hour</a:t>
            </a:r>
            <a:endParaRPr lang="en-US" sz="3400" dirty="0"/>
          </a:p>
        </p:txBody>
      </p:sp>
      <p:sp>
        <p:nvSpPr>
          <p:cNvPr id="12" name="Text 10"/>
          <p:cNvSpPr/>
          <p:nvPr/>
        </p:nvSpPr>
        <p:spPr>
          <a:xfrm>
            <a:off x="8351520" y="2432304"/>
            <a:ext cx="2987040" cy="502920"/>
          </a:xfrm>
          <a:prstGeom prst="rect">
            <a:avLst/>
          </a:prstGeom>
          <a:noFill/>
          <a:ln/>
        </p:spPr>
        <p:txBody>
          <a:bodyPr wrap="square" lIns="0" tIns="0" rIns="0" bIns="0" rtlCol="0" anchor="ctr"/>
          <a:lstStyle/>
          <a:p>
            <a:pPr indent="0" marL="0">
              <a:lnSpc>
                <a:spcPct val="110000"/>
              </a:lnSpc>
              <a:buNone/>
            </a:pPr>
            <a:r>
              <a:rPr lang="en-US" sz="1250" dirty="0">
                <a:solidFill>
                  <a:srgbClr val="62748A"/>
                </a:solidFill>
                <a:latin typeface="Calibri" pitchFamily="34" charset="0"/>
                <a:ea typeface="Calibri" pitchFamily="34" charset="-122"/>
                <a:cs typeface="Calibri" pitchFamily="34" charset="-120"/>
              </a:rPr>
              <a:t>is lost while teams guess where to search</a:t>
            </a:r>
            <a:endParaRPr lang="en-US" sz="1250" dirty="0"/>
          </a:p>
        </p:txBody>
      </p:sp>
      <p:sp>
        <p:nvSpPr>
          <p:cNvPr id="13" name="Shape 11"/>
          <p:cNvSpPr/>
          <p:nvPr/>
        </p:nvSpPr>
        <p:spPr>
          <a:xfrm>
            <a:off x="658368" y="3502152"/>
            <a:ext cx="201168" cy="201168"/>
          </a:xfrm>
          <a:prstGeom prst="ellipse">
            <a:avLst/>
          </a:prstGeom>
          <a:solidFill>
            <a:srgbClr val="E8A33D"/>
          </a:solidFill>
          <a:ln w="12700">
            <a:solidFill>
              <a:srgbClr val="E8A33D"/>
            </a:solidFill>
            <a:prstDash val="solid"/>
          </a:ln>
        </p:spPr>
      </p:sp>
      <p:sp>
        <p:nvSpPr>
          <p:cNvPr id="14" name="Text 12"/>
          <p:cNvSpPr/>
          <p:nvPr/>
        </p:nvSpPr>
        <p:spPr>
          <a:xfrm>
            <a:off x="1042416" y="3429000"/>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6485A"/>
                </a:solidFill>
                <a:latin typeface="Calibri" pitchFamily="34" charset="0"/>
                <a:ea typeface="Calibri" pitchFamily="34" charset="-122"/>
                <a:cs typeface="Calibri" pitchFamily="34" charset="-120"/>
              </a:rPr>
              <a:t>Cell broadcast already reaches every phone in a cell, and countries in the region use it. That part is solved and we are not trying to repeat it.</a:t>
            </a:r>
            <a:endParaRPr lang="en-US" sz="1500" dirty="0"/>
          </a:p>
        </p:txBody>
      </p:sp>
      <p:sp>
        <p:nvSpPr>
          <p:cNvPr id="15" name="Shape 13"/>
          <p:cNvSpPr/>
          <p:nvPr/>
        </p:nvSpPr>
        <p:spPr>
          <a:xfrm>
            <a:off x="658368" y="4160520"/>
            <a:ext cx="201168" cy="201168"/>
          </a:xfrm>
          <a:prstGeom prst="ellipse">
            <a:avLst/>
          </a:prstGeom>
          <a:solidFill>
            <a:srgbClr val="E8A33D"/>
          </a:solidFill>
          <a:ln w="12700">
            <a:solidFill>
              <a:srgbClr val="E8A33D"/>
            </a:solidFill>
            <a:prstDash val="solid"/>
          </a:ln>
        </p:spPr>
      </p:sp>
      <p:sp>
        <p:nvSpPr>
          <p:cNvPr id="16" name="Text 14"/>
          <p:cNvSpPr/>
          <p:nvPr/>
        </p:nvSpPr>
        <p:spPr>
          <a:xfrm>
            <a:off x="1042416" y="4087368"/>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6485A"/>
                </a:solidFill>
                <a:latin typeface="Calibri" pitchFamily="34" charset="0"/>
                <a:ea typeface="Calibri" pitchFamily="34" charset="-122"/>
                <a:cs typeface="Calibri" pitchFamily="34" charset="-120"/>
              </a:rPr>
              <a:t>What is not solved is the answer. Nobody knows whose phone was off, out of battery or out of signal, so nobody knows who never heard anything.</a:t>
            </a:r>
            <a:endParaRPr lang="en-US" sz="1500" dirty="0"/>
          </a:p>
        </p:txBody>
      </p:sp>
      <p:sp>
        <p:nvSpPr>
          <p:cNvPr id="17" name="Shape 15"/>
          <p:cNvSpPr/>
          <p:nvPr/>
        </p:nvSpPr>
        <p:spPr>
          <a:xfrm>
            <a:off x="658368" y="4818888"/>
            <a:ext cx="201168" cy="201168"/>
          </a:xfrm>
          <a:prstGeom prst="ellipse">
            <a:avLst/>
          </a:prstGeom>
          <a:solidFill>
            <a:srgbClr val="E8A33D"/>
          </a:solidFill>
          <a:ln w="12700">
            <a:solidFill>
              <a:srgbClr val="E8A33D"/>
            </a:solidFill>
            <a:prstDash val="solid"/>
          </a:ln>
        </p:spPr>
      </p:sp>
      <p:sp>
        <p:nvSpPr>
          <p:cNvPr id="18" name="Text 16"/>
          <p:cNvSpPr/>
          <p:nvPr/>
        </p:nvSpPr>
        <p:spPr>
          <a:xfrm>
            <a:off x="1042416" y="4745736"/>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6485A"/>
                </a:solidFill>
                <a:latin typeface="Calibri" pitchFamily="34" charset="0"/>
                <a:ea typeface="Calibri" pitchFamily="34" charset="-122"/>
                <a:cs typeface="Calibri" pitchFamily="34" charset="-120"/>
              </a:rPr>
              <a:t>For the highest risk people, a valley farm, a building site, a basement flat, a broadcast is far too rough. They need a warning tied to their own place.</a:t>
            </a:r>
            <a:endParaRPr lang="en-US" sz="1500" dirty="0"/>
          </a:p>
        </p:txBody>
      </p:sp>
      <p:sp>
        <p:nvSpPr>
          <p:cNvPr id="19" name="Shape 17"/>
          <p:cNvSpPr/>
          <p:nvPr/>
        </p:nvSpPr>
        <p:spPr>
          <a:xfrm>
            <a:off x="658368" y="5477256"/>
            <a:ext cx="201168" cy="201168"/>
          </a:xfrm>
          <a:prstGeom prst="ellipse">
            <a:avLst/>
          </a:prstGeom>
          <a:solidFill>
            <a:srgbClr val="E8A33D"/>
          </a:solidFill>
          <a:ln w="12700">
            <a:solidFill>
              <a:srgbClr val="E8A33D"/>
            </a:solidFill>
            <a:prstDash val="solid"/>
          </a:ln>
        </p:spPr>
      </p:sp>
      <p:sp>
        <p:nvSpPr>
          <p:cNvPr id="20" name="Text 18"/>
          <p:cNvSpPr/>
          <p:nvPr/>
        </p:nvSpPr>
        <p:spPr>
          <a:xfrm>
            <a:off x="1042416" y="5404104"/>
            <a:ext cx="10497312" cy="612648"/>
          </a:xfrm>
          <a:prstGeom prst="rect">
            <a:avLst/>
          </a:prstGeom>
          <a:noFill/>
          <a:ln/>
        </p:spPr>
        <p:txBody>
          <a:bodyPr wrap="square" lIns="0" tIns="0" rIns="0" bIns="0" rtlCol="0" anchor="t"/>
          <a:lstStyle/>
          <a:p>
            <a:pPr indent="0" marL="0">
              <a:lnSpc>
                <a:spcPct val="118000"/>
              </a:lnSpc>
              <a:buNone/>
            </a:pPr>
            <a:r>
              <a:rPr lang="en-US" sz="1500" dirty="0">
                <a:solidFill>
                  <a:srgbClr val="36485A"/>
                </a:solidFill>
                <a:latin typeface="Calibri" pitchFamily="34" charset="0"/>
                <a:ea typeface="Calibri" pitchFamily="34" charset="-122"/>
                <a:cs typeface="Calibri" pitchFamily="34" charset="-120"/>
              </a:rPr>
              <a:t>When the water comes, the local cell fills with calls and the rescue team loses its own video and maps at the worst moment.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A second layer for the people most at risk</a:t>
            </a:r>
            <a:endParaRPr lang="en-US" sz="3600" dirty="0"/>
          </a:p>
        </p:txBody>
      </p:sp>
      <p:sp>
        <p:nvSpPr>
          <p:cNvPr id="4" name="Shape 2"/>
          <p:cNvSpPr/>
          <p:nvPr/>
        </p:nvSpPr>
        <p:spPr>
          <a:xfrm>
            <a:off x="594360" y="1737360"/>
            <a:ext cx="3444240" cy="1828800"/>
          </a:xfrm>
          <a:prstGeom prst="roundRect">
            <a:avLst>
              <a:gd name="adj" fmla="val 5000"/>
            </a:avLst>
          </a:prstGeom>
          <a:solidFill>
            <a:srgbClr val="EDF3F6"/>
          </a:solidFill>
          <a:ln w="12700">
            <a:solidFill>
              <a:srgbClr val="EDF3F6"/>
            </a:solidFill>
            <a:prstDash val="solid"/>
          </a:ln>
        </p:spPr>
      </p:sp>
      <p:sp>
        <p:nvSpPr>
          <p:cNvPr id="5" name="Shape 3"/>
          <p:cNvSpPr/>
          <p:nvPr/>
        </p:nvSpPr>
        <p:spPr>
          <a:xfrm>
            <a:off x="850392" y="1975104"/>
            <a:ext cx="310896" cy="310896"/>
          </a:xfrm>
          <a:prstGeom prst="ellipse">
            <a:avLst/>
          </a:prstGeom>
          <a:solidFill>
            <a:srgbClr val="E8A33D"/>
          </a:solidFill>
          <a:ln w="12700">
            <a:solidFill>
              <a:srgbClr val="E8A33D"/>
            </a:solidFill>
            <a:prstDash val="solid"/>
          </a:ln>
        </p:spPr>
      </p:sp>
      <p:sp>
        <p:nvSpPr>
          <p:cNvPr id="6" name="Text 4"/>
          <p:cNvSpPr/>
          <p:nvPr/>
        </p:nvSpPr>
        <p:spPr>
          <a:xfrm>
            <a:off x="1280160" y="195681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People sign up first</a:t>
            </a:r>
            <a:endParaRPr lang="en-US" sz="1450" dirty="0"/>
          </a:p>
        </p:txBody>
      </p:sp>
      <p:sp>
        <p:nvSpPr>
          <p:cNvPr id="7" name="Text 5"/>
          <p:cNvSpPr/>
          <p:nvPr/>
        </p:nvSpPr>
        <p:spPr>
          <a:xfrm>
            <a:off x="850392" y="2395728"/>
            <a:ext cx="2932176" cy="9601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 city, a site owner or a farm co operative enrols the lines at risk. Each person agrees once and can leave any time.</a:t>
            </a:r>
            <a:endParaRPr lang="en-US" sz="1250" dirty="0"/>
          </a:p>
        </p:txBody>
      </p:sp>
      <p:sp>
        <p:nvSpPr>
          <p:cNvPr id="8" name="Shape 6"/>
          <p:cNvSpPr/>
          <p:nvPr/>
        </p:nvSpPr>
        <p:spPr>
          <a:xfrm>
            <a:off x="4358640" y="1737360"/>
            <a:ext cx="3444240" cy="1828800"/>
          </a:xfrm>
          <a:prstGeom prst="roundRect">
            <a:avLst>
              <a:gd name="adj" fmla="val 5000"/>
            </a:avLst>
          </a:prstGeom>
          <a:solidFill>
            <a:srgbClr val="EDF3F6"/>
          </a:solidFill>
          <a:ln w="12700">
            <a:solidFill>
              <a:srgbClr val="EDF3F6"/>
            </a:solidFill>
            <a:prstDash val="solid"/>
          </a:ln>
        </p:spPr>
      </p:sp>
      <p:sp>
        <p:nvSpPr>
          <p:cNvPr id="9" name="Shape 7"/>
          <p:cNvSpPr/>
          <p:nvPr/>
        </p:nvSpPr>
        <p:spPr>
          <a:xfrm>
            <a:off x="4614672" y="1975104"/>
            <a:ext cx="310896" cy="310896"/>
          </a:xfrm>
          <a:prstGeom prst="ellipse">
            <a:avLst/>
          </a:prstGeom>
          <a:solidFill>
            <a:srgbClr val="E8A33D"/>
          </a:solidFill>
          <a:ln w="12700">
            <a:solidFill>
              <a:srgbClr val="E8A33D"/>
            </a:solidFill>
            <a:prstDash val="solid"/>
          </a:ln>
        </p:spPr>
      </p:sp>
      <p:sp>
        <p:nvSpPr>
          <p:cNvPr id="10" name="Text 8"/>
          <p:cNvSpPr/>
          <p:nvPr/>
        </p:nvSpPr>
        <p:spPr>
          <a:xfrm>
            <a:off x="5044440" y="195681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The answer comes back</a:t>
            </a:r>
            <a:endParaRPr lang="en-US" sz="1450" dirty="0"/>
          </a:p>
        </p:txBody>
      </p:sp>
      <p:sp>
        <p:nvSpPr>
          <p:cNvPr id="11" name="Text 9"/>
          <p:cNvSpPr/>
          <p:nvPr/>
        </p:nvSpPr>
        <p:spPr>
          <a:xfrm>
            <a:off x="4614672" y="2395728"/>
            <a:ext cx="2932176" cy="9601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The agent checks whether each enrolled line can be reached. Silent lines become the first search list.</a:t>
            </a:r>
            <a:endParaRPr lang="en-US" sz="1250" dirty="0"/>
          </a:p>
        </p:txBody>
      </p:sp>
      <p:sp>
        <p:nvSpPr>
          <p:cNvPr id="12" name="Shape 10"/>
          <p:cNvSpPr/>
          <p:nvPr/>
        </p:nvSpPr>
        <p:spPr>
          <a:xfrm>
            <a:off x="8122920" y="1737360"/>
            <a:ext cx="3444240" cy="1828800"/>
          </a:xfrm>
          <a:prstGeom prst="roundRect">
            <a:avLst>
              <a:gd name="adj" fmla="val 5000"/>
            </a:avLst>
          </a:prstGeom>
          <a:solidFill>
            <a:srgbClr val="EDF3F6"/>
          </a:solidFill>
          <a:ln w="12700">
            <a:solidFill>
              <a:srgbClr val="EDF3F6"/>
            </a:solidFill>
            <a:prstDash val="solid"/>
          </a:ln>
        </p:spPr>
      </p:sp>
      <p:sp>
        <p:nvSpPr>
          <p:cNvPr id="13" name="Shape 11"/>
          <p:cNvSpPr/>
          <p:nvPr/>
        </p:nvSpPr>
        <p:spPr>
          <a:xfrm>
            <a:off x="8378952" y="1975104"/>
            <a:ext cx="310896" cy="310896"/>
          </a:xfrm>
          <a:prstGeom prst="ellipse">
            <a:avLst/>
          </a:prstGeom>
          <a:solidFill>
            <a:srgbClr val="E8A33D"/>
          </a:solidFill>
          <a:ln w="12700">
            <a:solidFill>
              <a:srgbClr val="E8A33D"/>
            </a:solidFill>
            <a:prstDash val="solid"/>
          </a:ln>
        </p:spPr>
      </p:sp>
      <p:sp>
        <p:nvSpPr>
          <p:cNvPr id="14" name="Text 12"/>
          <p:cNvSpPr/>
          <p:nvPr/>
        </p:nvSpPr>
        <p:spPr>
          <a:xfrm>
            <a:off x="8808720" y="195681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The team stays online</a:t>
            </a:r>
            <a:endParaRPr lang="en-US" sz="1450" dirty="0"/>
          </a:p>
        </p:txBody>
      </p:sp>
      <p:sp>
        <p:nvSpPr>
          <p:cNvPr id="15" name="Text 13"/>
          <p:cNvSpPr/>
          <p:nvPr/>
        </p:nvSpPr>
        <p:spPr>
          <a:xfrm>
            <a:off x="8378952" y="2395728"/>
            <a:ext cx="2932176" cy="9601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When the local cell fills up, the agent books quality or a slice so team video and maps keep working.</a:t>
            </a:r>
            <a:endParaRPr lang="en-US" sz="1250" dirty="0"/>
          </a:p>
        </p:txBody>
      </p:sp>
      <p:sp>
        <p:nvSpPr>
          <p:cNvPr id="16" name="Shape 14"/>
          <p:cNvSpPr/>
          <p:nvPr/>
        </p:nvSpPr>
        <p:spPr>
          <a:xfrm>
            <a:off x="594360" y="3886200"/>
            <a:ext cx="10972800" cy="1417320"/>
          </a:xfrm>
          <a:prstGeom prst="roundRect">
            <a:avLst>
              <a:gd name="adj" fmla="val 7742"/>
            </a:avLst>
          </a:prstGeom>
          <a:solidFill>
            <a:srgbClr val="10233F"/>
          </a:solidFill>
          <a:ln w="12700">
            <a:solidFill>
              <a:srgbClr val="10233F"/>
            </a:solidFill>
            <a:prstDash val="solid"/>
          </a:ln>
        </p:spPr>
      </p:sp>
      <p:sp>
        <p:nvSpPr>
          <p:cNvPr id="17" name="Text 15"/>
          <p:cNvSpPr/>
          <p:nvPr/>
        </p:nvSpPr>
        <p:spPr>
          <a:xfrm>
            <a:off x="960120" y="4069080"/>
            <a:ext cx="10241280" cy="32004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One sentence for the judges</a:t>
            </a:r>
            <a:endParaRPr lang="en-US" sz="1200" dirty="0"/>
          </a:p>
        </p:txBody>
      </p:sp>
      <p:sp>
        <p:nvSpPr>
          <p:cNvPr id="18" name="Text 16"/>
          <p:cNvSpPr/>
          <p:nvPr/>
        </p:nvSpPr>
        <p:spPr>
          <a:xfrm>
            <a:off x="960120" y="4389120"/>
            <a:ext cx="10241280" cy="77724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Broadcast is a shout into the dark. Wadi Watch is the small, checked list of people who did not answer, handed to the team that has to go and find them.</a:t>
            </a:r>
            <a:endParaRPr lang="en-US" sz="1600" dirty="0"/>
          </a:p>
        </p:txBody>
      </p:sp>
      <p:sp>
        <p:nvSpPr>
          <p:cNvPr id="19" name="Text 17"/>
          <p:cNvSpPr/>
          <p:nvPr/>
        </p:nvSpPr>
        <p:spPr>
          <a:xfrm>
            <a:off x="594360" y="5486400"/>
            <a:ext cx="10972800" cy="320040"/>
          </a:xfrm>
          <a:prstGeom prst="rect">
            <a:avLst/>
          </a:prstGeom>
          <a:noFill/>
          <a:ln/>
        </p:spPr>
        <p:txBody>
          <a:bodyPr wrap="square" lIns="0" tIns="0" rIns="0" bIns="0" rtlCol="0" anchor="ctr"/>
          <a:lstStyle/>
          <a:p>
            <a:pPr indent="0" marL="0">
              <a:buNone/>
            </a:pPr>
            <a:r>
              <a:rPr lang="en-US" sz="1100" i="1" dirty="0">
                <a:solidFill>
                  <a:srgbClr val="62748A"/>
                </a:solidFill>
                <a:latin typeface="Calibri" pitchFamily="34" charset="0"/>
                <a:ea typeface="Calibri" pitchFamily="34" charset="-122"/>
                <a:cs typeface="Calibri" pitchFamily="34" charset="-120"/>
              </a:rPr>
              <a:t>The agent layer is built only with the tools listed in the official Resource and Tooling Guide.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WHO SIGNS UP AND WHY</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Enrolment is the product, not a hurdle</a:t>
            </a:r>
            <a:endParaRPr lang="en-US" sz="3600" dirty="0"/>
          </a:p>
        </p:txBody>
      </p:sp>
      <p:sp>
        <p:nvSpPr>
          <p:cNvPr id="4" name="Shape 2"/>
          <p:cNvSpPr/>
          <p:nvPr/>
        </p:nvSpPr>
        <p:spPr>
          <a:xfrm>
            <a:off x="621792" y="1783080"/>
            <a:ext cx="457200" cy="457200"/>
          </a:xfrm>
          <a:prstGeom prst="ellipse">
            <a:avLst/>
          </a:prstGeom>
          <a:solidFill>
            <a:srgbClr val="1C7293"/>
          </a:solidFill>
          <a:ln w="12700">
            <a:solidFill>
              <a:srgbClr val="1C7293"/>
            </a:solidFill>
            <a:prstDash val="solid"/>
          </a:ln>
        </p:spPr>
      </p:sp>
      <p:sp>
        <p:nvSpPr>
          <p:cNvPr id="5" name="Text 3"/>
          <p:cNvSpPr/>
          <p:nvPr/>
        </p:nvSpPr>
        <p:spPr>
          <a:xfrm>
            <a:off x="621792"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80160" y="1764792"/>
            <a:ext cx="446227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Cities and civil defence</a:t>
            </a:r>
            <a:endParaRPr lang="en-US" sz="1500" dirty="0"/>
          </a:p>
        </p:txBody>
      </p:sp>
      <p:sp>
        <p:nvSpPr>
          <p:cNvPr id="7" name="Text 5"/>
          <p:cNvSpPr/>
          <p:nvPr/>
        </p:nvSpPr>
        <p:spPr>
          <a:xfrm>
            <a:off x="1280160" y="2039112"/>
            <a:ext cx="4462272" cy="105156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They enrol households in known flood streets and valleys, the same lists they already keep on paper.</a:t>
            </a:r>
            <a:endParaRPr lang="en-US" sz="1300" dirty="0"/>
          </a:p>
        </p:txBody>
      </p:sp>
      <p:sp>
        <p:nvSpPr>
          <p:cNvPr id="8" name="Shape 6"/>
          <p:cNvSpPr/>
          <p:nvPr/>
        </p:nvSpPr>
        <p:spPr>
          <a:xfrm>
            <a:off x="621792" y="3154680"/>
            <a:ext cx="457200" cy="457200"/>
          </a:xfrm>
          <a:prstGeom prst="ellipse">
            <a:avLst/>
          </a:prstGeom>
          <a:solidFill>
            <a:srgbClr val="1C7293"/>
          </a:solidFill>
          <a:ln w="12700">
            <a:solidFill>
              <a:srgbClr val="1C7293"/>
            </a:solidFill>
            <a:prstDash val="solid"/>
          </a:ln>
        </p:spPr>
      </p:sp>
      <p:sp>
        <p:nvSpPr>
          <p:cNvPr id="9" name="Text 7"/>
          <p:cNvSpPr/>
          <p:nvPr/>
        </p:nvSpPr>
        <p:spPr>
          <a:xfrm>
            <a:off x="621792" y="3154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3136392"/>
            <a:ext cx="446227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Site and farm owners</a:t>
            </a:r>
            <a:endParaRPr lang="en-US" sz="1500" dirty="0"/>
          </a:p>
        </p:txBody>
      </p:sp>
      <p:sp>
        <p:nvSpPr>
          <p:cNvPr id="11" name="Text 9"/>
          <p:cNvSpPr/>
          <p:nvPr/>
        </p:nvSpPr>
        <p:spPr>
          <a:xfrm>
            <a:off x="1280160" y="3410712"/>
            <a:ext cx="4462272" cy="105156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Workers are already under contract, so consent is clean and the site owner has money and a reason.</a:t>
            </a:r>
            <a:endParaRPr lang="en-US" sz="1300" dirty="0"/>
          </a:p>
        </p:txBody>
      </p:sp>
      <p:sp>
        <p:nvSpPr>
          <p:cNvPr id="12" name="Shape 10"/>
          <p:cNvSpPr/>
          <p:nvPr/>
        </p:nvSpPr>
        <p:spPr>
          <a:xfrm>
            <a:off x="621792" y="4526280"/>
            <a:ext cx="457200" cy="457200"/>
          </a:xfrm>
          <a:prstGeom prst="ellipse">
            <a:avLst/>
          </a:prstGeom>
          <a:solidFill>
            <a:srgbClr val="1C7293"/>
          </a:solidFill>
          <a:ln w="12700">
            <a:solidFill>
              <a:srgbClr val="1C7293"/>
            </a:solidFill>
            <a:prstDash val="solid"/>
          </a:ln>
        </p:spPr>
      </p:sp>
      <p:sp>
        <p:nvSpPr>
          <p:cNvPr id="13" name="Text 11"/>
          <p:cNvSpPr/>
          <p:nvPr/>
        </p:nvSpPr>
        <p:spPr>
          <a:xfrm>
            <a:off x="621792" y="4526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4507992"/>
            <a:ext cx="446227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Tour and transport firms</a:t>
            </a:r>
            <a:endParaRPr lang="en-US" sz="1500" dirty="0"/>
          </a:p>
        </p:txBody>
      </p:sp>
      <p:sp>
        <p:nvSpPr>
          <p:cNvPr id="15" name="Text 13"/>
          <p:cNvSpPr/>
          <p:nvPr/>
        </p:nvSpPr>
        <p:spPr>
          <a:xfrm>
            <a:off x="1280160" y="4782312"/>
            <a:ext cx="4462272" cy="105156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Groups moving through wadis and desert roads enrol for the length of the trip only.</a:t>
            </a:r>
            <a:endParaRPr lang="en-US" sz="1300" dirty="0"/>
          </a:p>
        </p:txBody>
      </p:sp>
      <p:sp>
        <p:nvSpPr>
          <p:cNvPr id="16" name="Shape 14"/>
          <p:cNvSpPr/>
          <p:nvPr/>
        </p:nvSpPr>
        <p:spPr>
          <a:xfrm>
            <a:off x="6263640" y="1783080"/>
            <a:ext cx="5303520" cy="1965960"/>
          </a:xfrm>
          <a:prstGeom prst="roundRect">
            <a:avLst>
              <a:gd name="adj" fmla="val 4651"/>
            </a:avLst>
          </a:prstGeom>
          <a:solidFill>
            <a:srgbClr val="EDF3F6"/>
          </a:solidFill>
          <a:ln w="12700">
            <a:solidFill>
              <a:srgbClr val="EDF3F6"/>
            </a:solidFill>
            <a:prstDash val="solid"/>
          </a:ln>
        </p:spPr>
      </p:sp>
      <p:sp>
        <p:nvSpPr>
          <p:cNvPr id="17" name="Shape 15"/>
          <p:cNvSpPr/>
          <p:nvPr/>
        </p:nvSpPr>
        <p:spPr>
          <a:xfrm>
            <a:off x="6519672" y="2020824"/>
            <a:ext cx="310896" cy="310896"/>
          </a:xfrm>
          <a:prstGeom prst="ellipse">
            <a:avLst/>
          </a:prstGeom>
          <a:solidFill>
            <a:srgbClr val="E8A33D"/>
          </a:solidFill>
          <a:ln w="12700">
            <a:solidFill>
              <a:srgbClr val="E8A33D"/>
            </a:solidFill>
            <a:prstDash val="solid"/>
          </a:ln>
        </p:spPr>
      </p:sp>
      <p:sp>
        <p:nvSpPr>
          <p:cNvPr id="18" name="Text 16"/>
          <p:cNvSpPr/>
          <p:nvPr/>
        </p:nvSpPr>
        <p:spPr>
          <a:xfrm>
            <a:off x="6949440" y="2002536"/>
            <a:ext cx="438912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Why we do it this way</a:t>
            </a:r>
            <a:endParaRPr lang="en-US" sz="1450" dirty="0"/>
          </a:p>
        </p:txBody>
      </p:sp>
      <p:sp>
        <p:nvSpPr>
          <p:cNvPr id="19" name="Text 17"/>
          <p:cNvSpPr/>
          <p:nvPr/>
        </p:nvSpPr>
        <p:spPr>
          <a:xfrm>
            <a:off x="6519672" y="2441448"/>
            <a:ext cx="4791456" cy="109728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CAMARA geofencing works one line at a time and needs the consent of that line owner. There is no API that asks who is inside an area. We built the product around that rule instead of pretending it is not there.</a:t>
            </a:r>
            <a:endParaRPr lang="en-US" sz="1250" dirty="0"/>
          </a:p>
        </p:txBody>
      </p:sp>
      <p:sp>
        <p:nvSpPr>
          <p:cNvPr id="20" name="Shape 18"/>
          <p:cNvSpPr/>
          <p:nvPr/>
        </p:nvSpPr>
        <p:spPr>
          <a:xfrm>
            <a:off x="6263640" y="4023360"/>
            <a:ext cx="5303520" cy="1965960"/>
          </a:xfrm>
          <a:prstGeom prst="roundRect">
            <a:avLst>
              <a:gd name="adj" fmla="val 4651"/>
            </a:avLst>
          </a:prstGeom>
          <a:solidFill>
            <a:srgbClr val="EDF3F6"/>
          </a:solidFill>
          <a:ln w="12700">
            <a:solidFill>
              <a:srgbClr val="EDF3F6"/>
            </a:solidFill>
            <a:prstDash val="solid"/>
          </a:ln>
        </p:spPr>
      </p:sp>
      <p:sp>
        <p:nvSpPr>
          <p:cNvPr id="21" name="Shape 19"/>
          <p:cNvSpPr/>
          <p:nvPr/>
        </p:nvSpPr>
        <p:spPr>
          <a:xfrm>
            <a:off x="6519672" y="4261104"/>
            <a:ext cx="310896" cy="310896"/>
          </a:xfrm>
          <a:prstGeom prst="ellipse">
            <a:avLst/>
          </a:prstGeom>
          <a:solidFill>
            <a:srgbClr val="E8A33D"/>
          </a:solidFill>
          <a:ln w="12700">
            <a:solidFill>
              <a:srgbClr val="E8A33D"/>
            </a:solidFill>
            <a:prstDash val="solid"/>
          </a:ln>
        </p:spPr>
      </p:sp>
      <p:sp>
        <p:nvSpPr>
          <p:cNvPr id="22" name="Text 20"/>
          <p:cNvSpPr/>
          <p:nvPr/>
        </p:nvSpPr>
        <p:spPr>
          <a:xfrm>
            <a:off x="6949440" y="4242816"/>
            <a:ext cx="438912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It is also better</a:t>
            </a:r>
            <a:endParaRPr lang="en-US" sz="1450" dirty="0"/>
          </a:p>
        </p:txBody>
      </p:sp>
      <p:sp>
        <p:nvSpPr>
          <p:cNvPr id="23" name="Text 21"/>
          <p:cNvSpPr/>
          <p:nvPr/>
        </p:nvSpPr>
        <p:spPr>
          <a:xfrm>
            <a:off x="6519672" y="4681728"/>
            <a:ext cx="4791456" cy="109728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An enrolled person has a home address, a language and a next of kin in the record. A broadcast has none of that, so our warning can be far more useful.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AI AGENT LOGIC</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How the agent decides, step by step</a:t>
            </a:r>
            <a:endParaRPr lang="en-US" sz="3600" dirty="0"/>
          </a:p>
        </p:txBody>
      </p:sp>
      <p:sp>
        <p:nvSpPr>
          <p:cNvPr id="4" name="Shape 2"/>
          <p:cNvSpPr/>
          <p:nvPr/>
        </p:nvSpPr>
        <p:spPr>
          <a:xfrm>
            <a:off x="621792" y="1783080"/>
            <a:ext cx="457200" cy="457200"/>
          </a:xfrm>
          <a:prstGeom prst="ellipse">
            <a:avLst/>
          </a:prstGeom>
          <a:solidFill>
            <a:srgbClr val="1C7293"/>
          </a:solidFill>
          <a:ln w="12700">
            <a:solidFill>
              <a:srgbClr val="1C7293"/>
            </a:solidFill>
            <a:prstDash val="solid"/>
          </a:ln>
        </p:spPr>
      </p:sp>
      <p:sp>
        <p:nvSpPr>
          <p:cNvPr id="5" name="Text 3"/>
          <p:cNvSpPr/>
          <p:nvPr/>
        </p:nvSpPr>
        <p:spPr>
          <a:xfrm>
            <a:off x="621792"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80160" y="1764792"/>
            <a:ext cx="446227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A risk appears</a:t>
            </a:r>
            <a:endParaRPr lang="en-US" sz="1500" dirty="0"/>
          </a:p>
        </p:txBody>
      </p:sp>
      <p:sp>
        <p:nvSpPr>
          <p:cNvPr id="7" name="Text 5"/>
          <p:cNvSpPr/>
          <p:nvPr/>
        </p:nvSpPr>
        <p:spPr>
          <a:xfrm>
            <a:off x="1280160" y="2039112"/>
            <a:ext cx="4462272" cy="100584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Weather and water level data cross a line. The agent draws the risk area on the map.</a:t>
            </a:r>
            <a:endParaRPr lang="en-US" sz="1300" dirty="0"/>
          </a:p>
        </p:txBody>
      </p:sp>
      <p:sp>
        <p:nvSpPr>
          <p:cNvPr id="8" name="Shape 6"/>
          <p:cNvSpPr/>
          <p:nvPr/>
        </p:nvSpPr>
        <p:spPr>
          <a:xfrm>
            <a:off x="621792" y="3108960"/>
            <a:ext cx="457200" cy="457200"/>
          </a:xfrm>
          <a:prstGeom prst="ellipse">
            <a:avLst/>
          </a:prstGeom>
          <a:solidFill>
            <a:srgbClr val="1C7293"/>
          </a:solidFill>
          <a:ln w="12700">
            <a:solidFill>
              <a:srgbClr val="1C7293"/>
            </a:solidFill>
            <a:prstDash val="solid"/>
          </a:ln>
        </p:spPr>
      </p:sp>
      <p:sp>
        <p:nvSpPr>
          <p:cNvPr id="9" name="Text 7"/>
          <p:cNvSpPr/>
          <p:nvPr/>
        </p:nvSpPr>
        <p:spPr>
          <a:xfrm>
            <a:off x="621792"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80160" y="3090672"/>
            <a:ext cx="446227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It matches the list</a:t>
            </a:r>
            <a:endParaRPr lang="en-US" sz="1500" dirty="0"/>
          </a:p>
        </p:txBody>
      </p:sp>
      <p:sp>
        <p:nvSpPr>
          <p:cNvPr id="11" name="Text 9"/>
          <p:cNvSpPr/>
          <p:nvPr/>
        </p:nvSpPr>
        <p:spPr>
          <a:xfrm>
            <a:off x="1280160" y="3364992"/>
            <a:ext cx="4462272" cy="100584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It finds which enrolled lines have a geofence inside or near that area.</a:t>
            </a:r>
            <a:endParaRPr lang="en-US" sz="1300" dirty="0"/>
          </a:p>
        </p:txBody>
      </p:sp>
      <p:sp>
        <p:nvSpPr>
          <p:cNvPr id="12" name="Shape 10"/>
          <p:cNvSpPr/>
          <p:nvPr/>
        </p:nvSpPr>
        <p:spPr>
          <a:xfrm>
            <a:off x="621792" y="4434840"/>
            <a:ext cx="457200" cy="457200"/>
          </a:xfrm>
          <a:prstGeom prst="ellipse">
            <a:avLst/>
          </a:prstGeom>
          <a:solidFill>
            <a:srgbClr val="1C7293"/>
          </a:solidFill>
          <a:ln w="12700">
            <a:solidFill>
              <a:srgbClr val="1C7293"/>
            </a:solidFill>
            <a:prstDash val="solid"/>
          </a:ln>
        </p:spPr>
      </p:sp>
      <p:sp>
        <p:nvSpPr>
          <p:cNvPr id="13" name="Text 11"/>
          <p:cNvSpPr/>
          <p:nvPr/>
        </p:nvSpPr>
        <p:spPr>
          <a:xfrm>
            <a:off x="621792"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80160" y="4416552"/>
            <a:ext cx="446227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It sets a level per zone</a:t>
            </a:r>
            <a:endParaRPr lang="en-US" sz="1500" dirty="0"/>
          </a:p>
        </p:txBody>
      </p:sp>
      <p:sp>
        <p:nvSpPr>
          <p:cNvPr id="15" name="Text 13"/>
          <p:cNvSpPr/>
          <p:nvPr/>
        </p:nvSpPr>
        <p:spPr>
          <a:xfrm>
            <a:off x="1280160" y="4690872"/>
            <a:ext cx="4462272" cy="100584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A farm in the valley floor and a street on the hill get different words, not the same alert.</a:t>
            </a:r>
            <a:endParaRPr lang="en-US" sz="1300" dirty="0"/>
          </a:p>
        </p:txBody>
      </p:sp>
      <p:sp>
        <p:nvSpPr>
          <p:cNvPr id="16" name="Shape 14"/>
          <p:cNvSpPr/>
          <p:nvPr/>
        </p:nvSpPr>
        <p:spPr>
          <a:xfrm>
            <a:off x="6263640" y="1783080"/>
            <a:ext cx="457200" cy="457200"/>
          </a:xfrm>
          <a:prstGeom prst="ellipse">
            <a:avLst/>
          </a:prstGeom>
          <a:solidFill>
            <a:srgbClr val="1C7293"/>
          </a:solidFill>
          <a:ln w="12700">
            <a:solidFill>
              <a:srgbClr val="1C7293"/>
            </a:solidFill>
            <a:prstDash val="solid"/>
          </a:ln>
        </p:spPr>
      </p:sp>
      <p:sp>
        <p:nvSpPr>
          <p:cNvPr id="17" name="Text 15"/>
          <p:cNvSpPr/>
          <p:nvPr/>
        </p:nvSpPr>
        <p:spPr>
          <a:xfrm>
            <a:off x="626364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6922008" y="1764792"/>
            <a:ext cx="464515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It tests the reach</a:t>
            </a:r>
            <a:endParaRPr lang="en-US" sz="1500" dirty="0"/>
          </a:p>
        </p:txBody>
      </p:sp>
      <p:sp>
        <p:nvSpPr>
          <p:cNvPr id="19" name="Text 17"/>
          <p:cNvSpPr/>
          <p:nvPr/>
        </p:nvSpPr>
        <p:spPr>
          <a:xfrm>
            <a:off x="6922008" y="2039112"/>
            <a:ext cx="4645152" cy="100584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Each line is checked. Silent lines go straight to the top of the search list with a last known area.</a:t>
            </a:r>
            <a:endParaRPr lang="en-US" sz="1300" dirty="0"/>
          </a:p>
        </p:txBody>
      </p:sp>
      <p:sp>
        <p:nvSpPr>
          <p:cNvPr id="20" name="Shape 18"/>
          <p:cNvSpPr/>
          <p:nvPr/>
        </p:nvSpPr>
        <p:spPr>
          <a:xfrm>
            <a:off x="6263640" y="3108960"/>
            <a:ext cx="457200" cy="457200"/>
          </a:xfrm>
          <a:prstGeom prst="ellipse">
            <a:avLst/>
          </a:prstGeom>
          <a:solidFill>
            <a:srgbClr val="1C7293"/>
          </a:solidFill>
          <a:ln w="12700">
            <a:solidFill>
              <a:srgbClr val="1C7293"/>
            </a:solidFill>
            <a:prstDash val="solid"/>
          </a:ln>
        </p:spPr>
      </p:sp>
      <p:sp>
        <p:nvSpPr>
          <p:cNvPr id="21" name="Text 19"/>
          <p:cNvSpPr/>
          <p:nvPr/>
        </p:nvSpPr>
        <p:spPr>
          <a:xfrm>
            <a:off x="6263640" y="3108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6922008" y="3090672"/>
            <a:ext cx="464515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It reads the cell</a:t>
            </a:r>
            <a:endParaRPr lang="en-US" sz="1500" dirty="0"/>
          </a:p>
        </p:txBody>
      </p:sp>
      <p:sp>
        <p:nvSpPr>
          <p:cNvPr id="23" name="Text 21"/>
          <p:cNvSpPr/>
          <p:nvPr/>
        </p:nvSpPr>
        <p:spPr>
          <a:xfrm>
            <a:off x="6922008" y="3364992"/>
            <a:ext cx="4645152" cy="100584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If the local cell is full, the agent books quality or a slice for the team phones and drones.</a:t>
            </a:r>
            <a:endParaRPr lang="en-US" sz="1300" dirty="0"/>
          </a:p>
        </p:txBody>
      </p:sp>
      <p:sp>
        <p:nvSpPr>
          <p:cNvPr id="24" name="Shape 22"/>
          <p:cNvSpPr/>
          <p:nvPr/>
        </p:nvSpPr>
        <p:spPr>
          <a:xfrm>
            <a:off x="6263640" y="4434840"/>
            <a:ext cx="457200" cy="457200"/>
          </a:xfrm>
          <a:prstGeom prst="ellipse">
            <a:avLst/>
          </a:prstGeom>
          <a:solidFill>
            <a:srgbClr val="1C7293"/>
          </a:solidFill>
          <a:ln w="12700">
            <a:solidFill>
              <a:srgbClr val="1C7293"/>
            </a:solidFill>
            <a:prstDash val="solid"/>
          </a:ln>
        </p:spPr>
      </p:sp>
      <p:sp>
        <p:nvSpPr>
          <p:cNvPr id="25" name="Text 23"/>
          <p:cNvSpPr/>
          <p:nvPr/>
        </p:nvSpPr>
        <p:spPr>
          <a:xfrm>
            <a:off x="626364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p:nvPr/>
        </p:nvSpPr>
        <p:spPr>
          <a:xfrm>
            <a:off x="6922008" y="4416552"/>
            <a:ext cx="464515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It closes the loop</a:t>
            </a:r>
            <a:endParaRPr lang="en-US" sz="1500" dirty="0"/>
          </a:p>
        </p:txBody>
      </p:sp>
      <p:sp>
        <p:nvSpPr>
          <p:cNvPr id="27" name="Text 25"/>
          <p:cNvSpPr/>
          <p:nvPr/>
        </p:nvSpPr>
        <p:spPr>
          <a:xfrm>
            <a:off x="6922008" y="4690872"/>
            <a:ext cx="4645152" cy="1005840"/>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People who answer are marked safe, so the team spends its first hour only on the ones who did not.</a:t>
            </a:r>
            <a:endParaRPr lang="en-US" sz="1300" dirty="0"/>
          </a:p>
        </p:txBody>
      </p:sp>
      <p:sp>
        <p:nvSpPr>
          <p:cNvPr id="28" name="Shape 26"/>
          <p:cNvSpPr/>
          <p:nvPr/>
        </p:nvSpPr>
        <p:spPr>
          <a:xfrm>
            <a:off x="594360" y="5349240"/>
            <a:ext cx="10972800" cy="777240"/>
          </a:xfrm>
          <a:prstGeom prst="roundRect">
            <a:avLst>
              <a:gd name="adj" fmla="val 14118"/>
            </a:avLst>
          </a:prstGeom>
          <a:solidFill>
            <a:srgbClr val="EDF3F6"/>
          </a:solidFill>
          <a:ln w="12700">
            <a:solidFill>
              <a:srgbClr val="EDF3F6"/>
            </a:solidFill>
            <a:prstDash val="solid"/>
          </a:ln>
        </p:spPr>
      </p:sp>
      <p:sp>
        <p:nvSpPr>
          <p:cNvPr id="29" name="Text 27"/>
          <p:cNvSpPr/>
          <p:nvPr/>
        </p:nvSpPr>
        <p:spPr>
          <a:xfrm>
            <a:off x="914400" y="5349240"/>
            <a:ext cx="10332720" cy="77724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The agent works in a loop. Every answer from the network changes the next question it asks.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CAMARA APIS ON NOKIA NETWORK AS CODE</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Eight network signals for one flood event</a:t>
            </a:r>
            <a:endParaRPr lang="en-US" sz="3600" dirty="0"/>
          </a:p>
        </p:txBody>
      </p:sp>
      <p:sp>
        <p:nvSpPr>
          <p:cNvPr id="4" name="Shape 2"/>
          <p:cNvSpPr/>
          <p:nvPr/>
        </p:nvSpPr>
        <p:spPr>
          <a:xfrm>
            <a:off x="594360" y="1737360"/>
            <a:ext cx="2503170" cy="1691640"/>
          </a:xfrm>
          <a:prstGeom prst="roundRect">
            <a:avLst>
              <a:gd name="adj" fmla="val 5405"/>
            </a:avLst>
          </a:prstGeom>
          <a:solidFill>
            <a:srgbClr val="EDF3F6"/>
          </a:solidFill>
          <a:ln w="12700">
            <a:solidFill>
              <a:srgbClr val="EDF3F6"/>
            </a:solidFill>
            <a:prstDash val="solid"/>
          </a:ln>
        </p:spPr>
      </p:sp>
      <p:sp>
        <p:nvSpPr>
          <p:cNvPr id="5" name="Shape 3"/>
          <p:cNvSpPr/>
          <p:nvPr/>
        </p:nvSpPr>
        <p:spPr>
          <a:xfrm>
            <a:off x="850392" y="1975104"/>
            <a:ext cx="310896" cy="310896"/>
          </a:xfrm>
          <a:prstGeom prst="ellipse">
            <a:avLst/>
          </a:prstGeom>
          <a:solidFill>
            <a:srgbClr val="E8A33D"/>
          </a:solidFill>
          <a:ln w="12700">
            <a:solidFill>
              <a:srgbClr val="E8A33D"/>
            </a:solidFill>
            <a:prstDash val="solid"/>
          </a:ln>
        </p:spPr>
      </p:sp>
      <p:sp>
        <p:nvSpPr>
          <p:cNvPr id="6" name="Text 4"/>
          <p:cNvSpPr/>
          <p:nvPr/>
        </p:nvSpPr>
        <p:spPr>
          <a:xfrm>
            <a:off x="1280160" y="1956816"/>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Geofencing</a:t>
            </a:r>
            <a:endParaRPr lang="en-US" sz="1450" dirty="0"/>
          </a:p>
        </p:txBody>
      </p:sp>
      <p:sp>
        <p:nvSpPr>
          <p:cNvPr id="7" name="Text 5"/>
          <p:cNvSpPr/>
          <p:nvPr/>
        </p:nvSpPr>
        <p:spPr>
          <a:xfrm>
            <a:off x="850392" y="2395728"/>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One subscription per enrolled line and its own area, created at sign up.</a:t>
            </a:r>
            <a:endParaRPr lang="en-US" sz="1250" dirty="0"/>
          </a:p>
        </p:txBody>
      </p:sp>
      <p:sp>
        <p:nvSpPr>
          <p:cNvPr id="8" name="Shape 6"/>
          <p:cNvSpPr/>
          <p:nvPr/>
        </p:nvSpPr>
        <p:spPr>
          <a:xfrm>
            <a:off x="3417570" y="1737360"/>
            <a:ext cx="2503170" cy="1691640"/>
          </a:xfrm>
          <a:prstGeom prst="roundRect">
            <a:avLst>
              <a:gd name="adj" fmla="val 5405"/>
            </a:avLst>
          </a:prstGeom>
          <a:solidFill>
            <a:srgbClr val="EDF3F6"/>
          </a:solidFill>
          <a:ln w="12700">
            <a:solidFill>
              <a:srgbClr val="EDF3F6"/>
            </a:solidFill>
            <a:prstDash val="solid"/>
          </a:ln>
        </p:spPr>
      </p:sp>
      <p:sp>
        <p:nvSpPr>
          <p:cNvPr id="9" name="Shape 7"/>
          <p:cNvSpPr/>
          <p:nvPr/>
        </p:nvSpPr>
        <p:spPr>
          <a:xfrm>
            <a:off x="3673602" y="1975104"/>
            <a:ext cx="310896" cy="310896"/>
          </a:xfrm>
          <a:prstGeom prst="ellipse">
            <a:avLst/>
          </a:prstGeom>
          <a:solidFill>
            <a:srgbClr val="E8A33D"/>
          </a:solidFill>
          <a:ln w="12700">
            <a:solidFill>
              <a:srgbClr val="E8A33D"/>
            </a:solidFill>
            <a:prstDash val="solid"/>
          </a:ln>
        </p:spPr>
      </p:sp>
      <p:sp>
        <p:nvSpPr>
          <p:cNvPr id="10" name="Text 8"/>
          <p:cNvSpPr/>
          <p:nvPr/>
        </p:nvSpPr>
        <p:spPr>
          <a:xfrm>
            <a:off x="4103370" y="1956816"/>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Location Verification</a:t>
            </a:r>
            <a:endParaRPr lang="en-US" sz="1450" dirty="0"/>
          </a:p>
        </p:txBody>
      </p:sp>
      <p:sp>
        <p:nvSpPr>
          <p:cNvPr id="11" name="Text 9"/>
          <p:cNvSpPr/>
          <p:nvPr/>
        </p:nvSpPr>
        <p:spPr>
          <a:xfrm>
            <a:off x="3673602" y="2395728"/>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Answers a yes or no about the area, with no track of daily life.</a:t>
            </a:r>
            <a:endParaRPr lang="en-US" sz="1250" dirty="0"/>
          </a:p>
        </p:txBody>
      </p:sp>
      <p:sp>
        <p:nvSpPr>
          <p:cNvPr id="12" name="Shape 10"/>
          <p:cNvSpPr/>
          <p:nvPr/>
        </p:nvSpPr>
        <p:spPr>
          <a:xfrm>
            <a:off x="6240780" y="1737360"/>
            <a:ext cx="2503170" cy="1691640"/>
          </a:xfrm>
          <a:prstGeom prst="roundRect">
            <a:avLst>
              <a:gd name="adj" fmla="val 5405"/>
            </a:avLst>
          </a:prstGeom>
          <a:solidFill>
            <a:srgbClr val="EDF3F6"/>
          </a:solidFill>
          <a:ln w="12700">
            <a:solidFill>
              <a:srgbClr val="EDF3F6"/>
            </a:solidFill>
            <a:prstDash val="solid"/>
          </a:ln>
        </p:spPr>
      </p:sp>
      <p:sp>
        <p:nvSpPr>
          <p:cNvPr id="13" name="Shape 11"/>
          <p:cNvSpPr/>
          <p:nvPr/>
        </p:nvSpPr>
        <p:spPr>
          <a:xfrm>
            <a:off x="6496812" y="1975104"/>
            <a:ext cx="310896" cy="310896"/>
          </a:xfrm>
          <a:prstGeom prst="ellipse">
            <a:avLst/>
          </a:prstGeom>
          <a:solidFill>
            <a:srgbClr val="E8A33D"/>
          </a:solidFill>
          <a:ln w="12700">
            <a:solidFill>
              <a:srgbClr val="E8A33D"/>
            </a:solidFill>
            <a:prstDash val="solid"/>
          </a:ln>
        </p:spPr>
      </p:sp>
      <p:sp>
        <p:nvSpPr>
          <p:cNvPr id="14" name="Text 12"/>
          <p:cNvSpPr/>
          <p:nvPr/>
        </p:nvSpPr>
        <p:spPr>
          <a:xfrm>
            <a:off x="6926580" y="1956816"/>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Location Retrieval</a:t>
            </a:r>
            <a:endParaRPr lang="en-US" sz="1450" dirty="0"/>
          </a:p>
        </p:txBody>
      </p:sp>
      <p:sp>
        <p:nvSpPr>
          <p:cNvPr id="15" name="Text 13"/>
          <p:cNvSpPr/>
          <p:nvPr/>
        </p:nvSpPr>
        <p:spPr>
          <a:xfrm>
            <a:off x="6496812" y="2395728"/>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 last known area, only for a line that did not answer during an alert.</a:t>
            </a:r>
            <a:endParaRPr lang="en-US" sz="1250" dirty="0"/>
          </a:p>
        </p:txBody>
      </p:sp>
      <p:sp>
        <p:nvSpPr>
          <p:cNvPr id="16" name="Shape 14"/>
          <p:cNvSpPr/>
          <p:nvPr/>
        </p:nvSpPr>
        <p:spPr>
          <a:xfrm>
            <a:off x="9063990" y="1737360"/>
            <a:ext cx="2503170" cy="1691640"/>
          </a:xfrm>
          <a:prstGeom prst="roundRect">
            <a:avLst>
              <a:gd name="adj" fmla="val 5405"/>
            </a:avLst>
          </a:prstGeom>
          <a:solidFill>
            <a:srgbClr val="EDF3F6"/>
          </a:solidFill>
          <a:ln w="12700">
            <a:solidFill>
              <a:srgbClr val="EDF3F6"/>
            </a:solidFill>
            <a:prstDash val="solid"/>
          </a:ln>
        </p:spPr>
      </p:sp>
      <p:sp>
        <p:nvSpPr>
          <p:cNvPr id="17" name="Shape 15"/>
          <p:cNvSpPr/>
          <p:nvPr/>
        </p:nvSpPr>
        <p:spPr>
          <a:xfrm>
            <a:off x="9320022" y="1975104"/>
            <a:ext cx="310896" cy="310896"/>
          </a:xfrm>
          <a:prstGeom prst="ellipse">
            <a:avLst/>
          </a:prstGeom>
          <a:solidFill>
            <a:srgbClr val="E8A33D"/>
          </a:solidFill>
          <a:ln w="12700">
            <a:solidFill>
              <a:srgbClr val="E8A33D"/>
            </a:solidFill>
            <a:prstDash val="solid"/>
          </a:ln>
        </p:spPr>
      </p:sp>
      <p:sp>
        <p:nvSpPr>
          <p:cNvPr id="18" name="Text 16"/>
          <p:cNvSpPr/>
          <p:nvPr/>
        </p:nvSpPr>
        <p:spPr>
          <a:xfrm>
            <a:off x="9749790" y="1956816"/>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Device Reachability</a:t>
            </a:r>
            <a:endParaRPr lang="en-US" sz="1450" dirty="0"/>
          </a:p>
        </p:txBody>
      </p:sp>
      <p:sp>
        <p:nvSpPr>
          <p:cNvPr id="19" name="Text 17"/>
          <p:cNvSpPr/>
          <p:nvPr/>
        </p:nvSpPr>
        <p:spPr>
          <a:xfrm>
            <a:off x="9320022" y="2395728"/>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Shows which enrolled lines can receive the warning and which cannot.</a:t>
            </a:r>
            <a:endParaRPr lang="en-US" sz="1250" dirty="0"/>
          </a:p>
        </p:txBody>
      </p:sp>
      <p:sp>
        <p:nvSpPr>
          <p:cNvPr id="20" name="Shape 18"/>
          <p:cNvSpPr/>
          <p:nvPr/>
        </p:nvSpPr>
        <p:spPr>
          <a:xfrm>
            <a:off x="594360" y="3721608"/>
            <a:ext cx="2503170" cy="1691640"/>
          </a:xfrm>
          <a:prstGeom prst="roundRect">
            <a:avLst>
              <a:gd name="adj" fmla="val 5405"/>
            </a:avLst>
          </a:prstGeom>
          <a:solidFill>
            <a:srgbClr val="EDF3F6"/>
          </a:solidFill>
          <a:ln w="12700">
            <a:solidFill>
              <a:srgbClr val="EDF3F6"/>
            </a:solidFill>
            <a:prstDash val="solid"/>
          </a:ln>
        </p:spPr>
      </p:sp>
      <p:sp>
        <p:nvSpPr>
          <p:cNvPr id="21" name="Shape 19"/>
          <p:cNvSpPr/>
          <p:nvPr/>
        </p:nvSpPr>
        <p:spPr>
          <a:xfrm>
            <a:off x="850392" y="3959352"/>
            <a:ext cx="310896" cy="310896"/>
          </a:xfrm>
          <a:prstGeom prst="ellipse">
            <a:avLst/>
          </a:prstGeom>
          <a:solidFill>
            <a:srgbClr val="E8A33D"/>
          </a:solidFill>
          <a:ln w="12700">
            <a:solidFill>
              <a:srgbClr val="E8A33D"/>
            </a:solidFill>
            <a:prstDash val="solid"/>
          </a:ln>
        </p:spPr>
      </p:sp>
      <p:sp>
        <p:nvSpPr>
          <p:cNvPr id="22" name="Text 20"/>
          <p:cNvSpPr/>
          <p:nvPr/>
        </p:nvSpPr>
        <p:spPr>
          <a:xfrm>
            <a:off x="1280160" y="3941064"/>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Congestion Insights</a:t>
            </a:r>
            <a:endParaRPr lang="en-US" sz="1450" dirty="0"/>
          </a:p>
        </p:txBody>
      </p:sp>
      <p:sp>
        <p:nvSpPr>
          <p:cNvPr id="23" name="Text 21"/>
          <p:cNvSpPr/>
          <p:nvPr/>
        </p:nvSpPr>
        <p:spPr>
          <a:xfrm>
            <a:off x="850392" y="4379976"/>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Shows how full the local cell is, so the agent plans the rescue call.</a:t>
            </a:r>
            <a:endParaRPr lang="en-US" sz="1250" dirty="0"/>
          </a:p>
        </p:txBody>
      </p:sp>
      <p:sp>
        <p:nvSpPr>
          <p:cNvPr id="24" name="Shape 22"/>
          <p:cNvSpPr/>
          <p:nvPr/>
        </p:nvSpPr>
        <p:spPr>
          <a:xfrm>
            <a:off x="3417570" y="3721608"/>
            <a:ext cx="2503170" cy="1691640"/>
          </a:xfrm>
          <a:prstGeom prst="roundRect">
            <a:avLst>
              <a:gd name="adj" fmla="val 5405"/>
            </a:avLst>
          </a:prstGeom>
          <a:solidFill>
            <a:srgbClr val="EDF3F6"/>
          </a:solidFill>
          <a:ln w="12700">
            <a:solidFill>
              <a:srgbClr val="EDF3F6"/>
            </a:solidFill>
            <a:prstDash val="solid"/>
          </a:ln>
        </p:spPr>
      </p:sp>
      <p:sp>
        <p:nvSpPr>
          <p:cNvPr id="25" name="Shape 23"/>
          <p:cNvSpPr/>
          <p:nvPr/>
        </p:nvSpPr>
        <p:spPr>
          <a:xfrm>
            <a:off x="3673602" y="3959352"/>
            <a:ext cx="310896" cy="310896"/>
          </a:xfrm>
          <a:prstGeom prst="ellipse">
            <a:avLst/>
          </a:prstGeom>
          <a:solidFill>
            <a:srgbClr val="E8A33D"/>
          </a:solidFill>
          <a:ln w="12700">
            <a:solidFill>
              <a:srgbClr val="E8A33D"/>
            </a:solidFill>
            <a:prstDash val="solid"/>
          </a:ln>
        </p:spPr>
      </p:sp>
      <p:sp>
        <p:nvSpPr>
          <p:cNvPr id="26" name="Text 24"/>
          <p:cNvSpPr/>
          <p:nvPr/>
        </p:nvSpPr>
        <p:spPr>
          <a:xfrm>
            <a:off x="4103370" y="3941064"/>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Quality on Demand</a:t>
            </a:r>
            <a:endParaRPr lang="en-US" sz="1450" dirty="0"/>
          </a:p>
        </p:txBody>
      </p:sp>
      <p:sp>
        <p:nvSpPr>
          <p:cNvPr id="27" name="Text 25"/>
          <p:cNvSpPr/>
          <p:nvPr/>
        </p:nvSpPr>
        <p:spPr>
          <a:xfrm>
            <a:off x="3673602" y="4379976"/>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Books stable video and maps for the team while everybody else is calling.</a:t>
            </a:r>
            <a:endParaRPr lang="en-US" sz="1250" dirty="0"/>
          </a:p>
        </p:txBody>
      </p:sp>
      <p:sp>
        <p:nvSpPr>
          <p:cNvPr id="28" name="Shape 26"/>
          <p:cNvSpPr/>
          <p:nvPr/>
        </p:nvSpPr>
        <p:spPr>
          <a:xfrm>
            <a:off x="6240780" y="3721608"/>
            <a:ext cx="2503170" cy="1691640"/>
          </a:xfrm>
          <a:prstGeom prst="roundRect">
            <a:avLst>
              <a:gd name="adj" fmla="val 5405"/>
            </a:avLst>
          </a:prstGeom>
          <a:solidFill>
            <a:srgbClr val="EDF3F6"/>
          </a:solidFill>
          <a:ln w="12700">
            <a:solidFill>
              <a:srgbClr val="EDF3F6"/>
            </a:solidFill>
            <a:prstDash val="solid"/>
          </a:ln>
        </p:spPr>
      </p:sp>
      <p:sp>
        <p:nvSpPr>
          <p:cNvPr id="29" name="Shape 27"/>
          <p:cNvSpPr/>
          <p:nvPr/>
        </p:nvSpPr>
        <p:spPr>
          <a:xfrm>
            <a:off x="6496812" y="3959352"/>
            <a:ext cx="310896" cy="310896"/>
          </a:xfrm>
          <a:prstGeom prst="ellipse">
            <a:avLst/>
          </a:prstGeom>
          <a:solidFill>
            <a:srgbClr val="E8A33D"/>
          </a:solidFill>
          <a:ln w="12700">
            <a:solidFill>
              <a:srgbClr val="E8A33D"/>
            </a:solidFill>
            <a:prstDash val="solid"/>
          </a:ln>
        </p:spPr>
      </p:sp>
      <p:sp>
        <p:nvSpPr>
          <p:cNvPr id="30" name="Text 28"/>
          <p:cNvSpPr/>
          <p:nvPr/>
        </p:nvSpPr>
        <p:spPr>
          <a:xfrm>
            <a:off x="6926580" y="3941064"/>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Network Slice Management</a:t>
            </a:r>
            <a:endParaRPr lang="en-US" sz="1450" dirty="0"/>
          </a:p>
        </p:txBody>
      </p:sp>
      <p:sp>
        <p:nvSpPr>
          <p:cNvPr id="31" name="Text 29"/>
          <p:cNvSpPr/>
          <p:nvPr/>
        </p:nvSpPr>
        <p:spPr>
          <a:xfrm>
            <a:off x="6496812" y="4379976"/>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Keeps a private lane for the rescue team during a large event.</a:t>
            </a:r>
            <a:endParaRPr lang="en-US" sz="1250" dirty="0"/>
          </a:p>
        </p:txBody>
      </p:sp>
      <p:sp>
        <p:nvSpPr>
          <p:cNvPr id="32" name="Shape 30"/>
          <p:cNvSpPr/>
          <p:nvPr/>
        </p:nvSpPr>
        <p:spPr>
          <a:xfrm>
            <a:off x="9063990" y="3721608"/>
            <a:ext cx="2503170" cy="1691640"/>
          </a:xfrm>
          <a:prstGeom prst="roundRect">
            <a:avLst>
              <a:gd name="adj" fmla="val 5405"/>
            </a:avLst>
          </a:prstGeom>
          <a:solidFill>
            <a:srgbClr val="EDF3F6"/>
          </a:solidFill>
          <a:ln w="12700">
            <a:solidFill>
              <a:srgbClr val="EDF3F6"/>
            </a:solidFill>
            <a:prstDash val="solid"/>
          </a:ln>
        </p:spPr>
      </p:sp>
      <p:sp>
        <p:nvSpPr>
          <p:cNvPr id="33" name="Shape 31"/>
          <p:cNvSpPr/>
          <p:nvPr/>
        </p:nvSpPr>
        <p:spPr>
          <a:xfrm>
            <a:off x="9320022" y="3959352"/>
            <a:ext cx="310896" cy="310896"/>
          </a:xfrm>
          <a:prstGeom prst="ellipse">
            <a:avLst/>
          </a:prstGeom>
          <a:solidFill>
            <a:srgbClr val="E8A33D"/>
          </a:solidFill>
          <a:ln w="12700">
            <a:solidFill>
              <a:srgbClr val="E8A33D"/>
            </a:solidFill>
            <a:prstDash val="solid"/>
          </a:ln>
        </p:spPr>
      </p:sp>
      <p:sp>
        <p:nvSpPr>
          <p:cNvPr id="34" name="Text 32"/>
          <p:cNvSpPr/>
          <p:nvPr/>
        </p:nvSpPr>
        <p:spPr>
          <a:xfrm>
            <a:off x="9749790" y="3941064"/>
            <a:ext cx="158877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Slice Device Attachment</a:t>
            </a:r>
            <a:endParaRPr lang="en-US" sz="1450" dirty="0"/>
          </a:p>
        </p:txBody>
      </p:sp>
      <p:sp>
        <p:nvSpPr>
          <p:cNvPr id="35" name="Text 33"/>
          <p:cNvSpPr/>
          <p:nvPr/>
        </p:nvSpPr>
        <p:spPr>
          <a:xfrm>
            <a:off x="9320022" y="4379976"/>
            <a:ext cx="1991106" cy="8229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Puts the right team phones and drones on that lane in seconds.</a:t>
            </a:r>
            <a:endParaRPr lang="en-US" sz="1250" dirty="0"/>
          </a:p>
        </p:txBody>
      </p:sp>
      <p:sp>
        <p:nvSpPr>
          <p:cNvPr id="36" name="Text 34"/>
          <p:cNvSpPr/>
          <p:nvPr/>
        </p:nvSpPr>
        <p:spPr>
          <a:xfrm>
            <a:off x="594360" y="5669280"/>
            <a:ext cx="10972800" cy="320040"/>
          </a:xfrm>
          <a:prstGeom prst="rect">
            <a:avLst/>
          </a:prstGeom>
          <a:noFill/>
          <a:ln/>
        </p:spPr>
        <p:txBody>
          <a:bodyPr wrap="square" lIns="0" tIns="0" rIns="0" bIns="0" rtlCol="0" anchor="ctr"/>
          <a:lstStyle/>
          <a:p>
            <a:pPr indent="0" marL="0">
              <a:buNone/>
            </a:pPr>
            <a:r>
              <a:rPr lang="en-US" sz="1100" i="1" dirty="0">
                <a:solidFill>
                  <a:srgbClr val="62748A"/>
                </a:solidFill>
                <a:latin typeface="Calibri" pitchFamily="34" charset="0"/>
                <a:ea typeface="Calibri" pitchFamily="34" charset="-122"/>
                <a:cs typeface="Calibri" pitchFamily="34" charset="-120"/>
              </a:rPr>
              <a:t>All eight are wired in the working prototype, network slicing included. 7 scenarios, all reaching the outcome they claim, at 74.9% less than calling every check.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From a weather signal to a short search list</a:t>
            </a:r>
            <a:endParaRPr lang="en-US" sz="3600" dirty="0"/>
          </a:p>
        </p:txBody>
      </p:sp>
      <p:sp>
        <p:nvSpPr>
          <p:cNvPr id="4" name="Shape 2"/>
          <p:cNvSpPr/>
          <p:nvPr/>
        </p:nvSpPr>
        <p:spPr>
          <a:xfrm>
            <a:off x="594360" y="1783080"/>
            <a:ext cx="2455164" cy="1965960"/>
          </a:xfrm>
          <a:prstGeom prst="roundRect">
            <a:avLst>
              <a:gd name="adj" fmla="val 4651"/>
            </a:avLst>
          </a:prstGeom>
          <a:solidFill>
            <a:srgbClr val="EDF3F6"/>
          </a:solidFill>
          <a:ln w="12700">
            <a:solidFill>
              <a:srgbClr val="EDF3F6"/>
            </a:solidFill>
            <a:prstDash val="solid"/>
          </a:ln>
        </p:spPr>
      </p:sp>
      <p:sp>
        <p:nvSpPr>
          <p:cNvPr id="5" name="Text 3"/>
          <p:cNvSpPr/>
          <p:nvPr/>
        </p:nvSpPr>
        <p:spPr>
          <a:xfrm>
            <a:off x="777240" y="1984248"/>
            <a:ext cx="2089404" cy="548640"/>
          </a:xfrm>
          <a:prstGeom prst="rect">
            <a:avLst/>
          </a:prstGeom>
          <a:noFill/>
          <a:ln/>
        </p:spPr>
        <p:txBody>
          <a:bodyPr wrap="square" lIns="0" tIns="0" rIns="0" bIns="0" rtlCol="0" anchor="ctr"/>
          <a:lstStyle/>
          <a:p>
            <a:pPr algn="ctr" indent="0" marL="0">
              <a:buNone/>
            </a:pPr>
            <a:r>
              <a:rPr lang="en-US" sz="1450" b="1" dirty="0">
                <a:solidFill>
                  <a:srgbClr val="10233F"/>
                </a:solidFill>
                <a:latin typeface="Calibri" pitchFamily="34" charset="0"/>
                <a:ea typeface="Calibri" pitchFamily="34" charset="-122"/>
                <a:cs typeface="Calibri" pitchFamily="34" charset="-120"/>
              </a:rPr>
              <a:t>Weather and water data</a:t>
            </a:r>
            <a:endParaRPr lang="en-US" sz="1450" dirty="0"/>
          </a:p>
        </p:txBody>
      </p:sp>
      <p:sp>
        <p:nvSpPr>
          <p:cNvPr id="6" name="Text 4"/>
          <p:cNvSpPr/>
          <p:nvPr/>
        </p:nvSpPr>
        <p:spPr>
          <a:xfrm>
            <a:off x="758952"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36485A"/>
                </a:solidFill>
                <a:latin typeface="Calibri" pitchFamily="34" charset="0"/>
                <a:ea typeface="Calibri" pitchFamily="34" charset="-122"/>
                <a:cs typeface="Calibri" pitchFamily="34" charset="-120"/>
              </a:rPr>
              <a:t>Open forecast and river level sources start the whole flow.</a:t>
            </a:r>
            <a:endParaRPr lang="en-US" sz="1150" dirty="0"/>
          </a:p>
        </p:txBody>
      </p:sp>
      <p:sp>
        <p:nvSpPr>
          <p:cNvPr id="7" name="Shape 5"/>
          <p:cNvSpPr/>
          <p:nvPr/>
        </p:nvSpPr>
        <p:spPr>
          <a:xfrm>
            <a:off x="3104388" y="2647188"/>
            <a:ext cx="274320" cy="237744"/>
          </a:xfrm>
          <a:prstGeom prst="rightArrow">
            <a:avLst/>
          </a:prstGeom>
          <a:solidFill>
            <a:srgbClr val="E8A33D"/>
          </a:solidFill>
          <a:ln w="12700">
            <a:solidFill>
              <a:srgbClr val="E8A33D"/>
            </a:solidFill>
            <a:prstDash val="solid"/>
          </a:ln>
        </p:spPr>
      </p:sp>
      <p:sp>
        <p:nvSpPr>
          <p:cNvPr id="8" name="Shape 6"/>
          <p:cNvSpPr/>
          <p:nvPr/>
        </p:nvSpPr>
        <p:spPr>
          <a:xfrm>
            <a:off x="3433572" y="1783080"/>
            <a:ext cx="2455164" cy="1965960"/>
          </a:xfrm>
          <a:prstGeom prst="roundRect">
            <a:avLst>
              <a:gd name="adj" fmla="val 4651"/>
            </a:avLst>
          </a:prstGeom>
          <a:solidFill>
            <a:srgbClr val="1C7293"/>
          </a:solidFill>
          <a:ln w="12700">
            <a:solidFill>
              <a:srgbClr val="1C7293"/>
            </a:solidFill>
            <a:prstDash val="solid"/>
          </a:ln>
        </p:spPr>
      </p:sp>
      <p:sp>
        <p:nvSpPr>
          <p:cNvPr id="9" name="Text 7"/>
          <p:cNvSpPr/>
          <p:nvPr/>
        </p:nvSpPr>
        <p:spPr>
          <a:xfrm>
            <a:off x="3616452" y="1984248"/>
            <a:ext cx="2089404" cy="5486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Wadi Watch agent core</a:t>
            </a:r>
            <a:endParaRPr lang="en-US" sz="1450" dirty="0"/>
          </a:p>
        </p:txBody>
      </p:sp>
      <p:sp>
        <p:nvSpPr>
          <p:cNvPr id="10" name="Text 8"/>
          <p:cNvSpPr/>
          <p:nvPr/>
        </p:nvSpPr>
        <p:spPr>
          <a:xfrm>
            <a:off x="3598164"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C5D8E4"/>
                </a:solidFill>
                <a:latin typeface="Calibri" pitchFamily="34" charset="0"/>
                <a:ea typeface="Calibri" pitchFamily="34" charset="-122"/>
                <a:cs typeface="Calibri" pitchFamily="34" charset="-120"/>
              </a:rPr>
              <a:t>Draws the zone, sets levels, tests reach and writes the search list.</a:t>
            </a:r>
            <a:endParaRPr lang="en-US" sz="1150" dirty="0"/>
          </a:p>
        </p:txBody>
      </p:sp>
      <p:sp>
        <p:nvSpPr>
          <p:cNvPr id="11" name="Shape 9"/>
          <p:cNvSpPr/>
          <p:nvPr/>
        </p:nvSpPr>
        <p:spPr>
          <a:xfrm>
            <a:off x="5943600" y="2647188"/>
            <a:ext cx="274320" cy="237744"/>
          </a:xfrm>
          <a:prstGeom prst="rightArrow">
            <a:avLst/>
          </a:prstGeom>
          <a:solidFill>
            <a:srgbClr val="E8A33D"/>
          </a:solidFill>
          <a:ln w="12700">
            <a:solidFill>
              <a:srgbClr val="E8A33D"/>
            </a:solidFill>
            <a:prstDash val="solid"/>
          </a:ln>
        </p:spPr>
      </p:sp>
      <p:sp>
        <p:nvSpPr>
          <p:cNvPr id="12" name="Shape 10"/>
          <p:cNvSpPr/>
          <p:nvPr/>
        </p:nvSpPr>
        <p:spPr>
          <a:xfrm>
            <a:off x="6272784" y="1783080"/>
            <a:ext cx="2455164" cy="1965960"/>
          </a:xfrm>
          <a:prstGeom prst="roundRect">
            <a:avLst>
              <a:gd name="adj" fmla="val 4651"/>
            </a:avLst>
          </a:prstGeom>
          <a:solidFill>
            <a:srgbClr val="EDF3F6"/>
          </a:solidFill>
          <a:ln w="12700">
            <a:solidFill>
              <a:srgbClr val="EDF3F6"/>
            </a:solidFill>
            <a:prstDash val="solid"/>
          </a:ln>
        </p:spPr>
      </p:sp>
      <p:sp>
        <p:nvSpPr>
          <p:cNvPr id="13" name="Text 11"/>
          <p:cNvSpPr/>
          <p:nvPr/>
        </p:nvSpPr>
        <p:spPr>
          <a:xfrm>
            <a:off x="6455664" y="1984248"/>
            <a:ext cx="2089404" cy="548640"/>
          </a:xfrm>
          <a:prstGeom prst="rect">
            <a:avLst/>
          </a:prstGeom>
          <a:noFill/>
          <a:ln/>
        </p:spPr>
        <p:txBody>
          <a:bodyPr wrap="square" lIns="0" tIns="0" rIns="0" bIns="0" rtlCol="0" anchor="ctr"/>
          <a:lstStyle/>
          <a:p>
            <a:pPr algn="ctr" indent="0" marL="0">
              <a:buNone/>
            </a:pPr>
            <a:r>
              <a:rPr lang="en-US" sz="1450" b="1" dirty="0">
                <a:solidFill>
                  <a:srgbClr val="10233F"/>
                </a:solidFill>
                <a:latin typeface="Calibri" pitchFamily="34" charset="0"/>
                <a:ea typeface="Calibri" pitchFamily="34" charset="-122"/>
                <a:cs typeface="Calibri" pitchFamily="34" charset="-120"/>
              </a:rPr>
              <a:t>Nokia Network as Code</a:t>
            </a:r>
            <a:endParaRPr lang="en-US" sz="1450" dirty="0"/>
          </a:p>
        </p:txBody>
      </p:sp>
      <p:sp>
        <p:nvSpPr>
          <p:cNvPr id="14" name="Text 12"/>
          <p:cNvSpPr/>
          <p:nvPr/>
        </p:nvSpPr>
        <p:spPr>
          <a:xfrm>
            <a:off x="6437376"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36485A"/>
                </a:solidFill>
                <a:latin typeface="Calibri" pitchFamily="34" charset="0"/>
                <a:ea typeface="Calibri" pitchFamily="34" charset="-122"/>
                <a:cs typeface="Calibri" pitchFamily="34" charset="-120"/>
              </a:rPr>
              <a:t>Keys, quotas, consent tokens and the simulator numbers for the demo.</a:t>
            </a:r>
            <a:endParaRPr lang="en-US" sz="1150" dirty="0"/>
          </a:p>
        </p:txBody>
      </p:sp>
      <p:sp>
        <p:nvSpPr>
          <p:cNvPr id="15" name="Shape 13"/>
          <p:cNvSpPr/>
          <p:nvPr/>
        </p:nvSpPr>
        <p:spPr>
          <a:xfrm>
            <a:off x="8782812" y="2647188"/>
            <a:ext cx="274320" cy="237744"/>
          </a:xfrm>
          <a:prstGeom prst="rightArrow">
            <a:avLst/>
          </a:prstGeom>
          <a:solidFill>
            <a:srgbClr val="E8A33D"/>
          </a:solidFill>
          <a:ln w="12700">
            <a:solidFill>
              <a:srgbClr val="E8A33D"/>
            </a:solidFill>
            <a:prstDash val="solid"/>
          </a:ln>
        </p:spPr>
      </p:sp>
      <p:sp>
        <p:nvSpPr>
          <p:cNvPr id="16" name="Shape 14"/>
          <p:cNvSpPr/>
          <p:nvPr/>
        </p:nvSpPr>
        <p:spPr>
          <a:xfrm>
            <a:off x="9111996" y="1783080"/>
            <a:ext cx="2455164" cy="1965960"/>
          </a:xfrm>
          <a:prstGeom prst="roundRect">
            <a:avLst>
              <a:gd name="adj" fmla="val 4651"/>
            </a:avLst>
          </a:prstGeom>
          <a:solidFill>
            <a:srgbClr val="EDF3F6"/>
          </a:solidFill>
          <a:ln w="12700">
            <a:solidFill>
              <a:srgbClr val="EDF3F6"/>
            </a:solidFill>
            <a:prstDash val="solid"/>
          </a:ln>
        </p:spPr>
      </p:sp>
      <p:sp>
        <p:nvSpPr>
          <p:cNvPr id="17" name="Text 15"/>
          <p:cNvSpPr/>
          <p:nvPr/>
        </p:nvSpPr>
        <p:spPr>
          <a:xfrm>
            <a:off x="9294876" y="1984248"/>
            <a:ext cx="2089404" cy="548640"/>
          </a:xfrm>
          <a:prstGeom prst="rect">
            <a:avLst/>
          </a:prstGeom>
          <a:noFill/>
          <a:ln/>
        </p:spPr>
        <p:txBody>
          <a:bodyPr wrap="square" lIns="0" tIns="0" rIns="0" bIns="0" rtlCol="0" anchor="ctr"/>
          <a:lstStyle/>
          <a:p>
            <a:pPr algn="ctr" indent="0" marL="0">
              <a:buNone/>
            </a:pPr>
            <a:r>
              <a:rPr lang="en-US" sz="1450" b="1" dirty="0">
                <a:solidFill>
                  <a:srgbClr val="10233F"/>
                </a:solidFill>
                <a:latin typeface="Calibri" pitchFamily="34" charset="0"/>
                <a:ea typeface="Calibri" pitchFamily="34" charset="-122"/>
                <a:cs typeface="Calibri" pitchFamily="34" charset="-120"/>
              </a:rPr>
              <a:t>CAMARA APIs</a:t>
            </a:r>
            <a:endParaRPr lang="en-US" sz="1450" dirty="0"/>
          </a:p>
        </p:txBody>
      </p:sp>
      <p:sp>
        <p:nvSpPr>
          <p:cNvPr id="18" name="Text 16"/>
          <p:cNvSpPr/>
          <p:nvPr/>
        </p:nvSpPr>
        <p:spPr>
          <a:xfrm>
            <a:off x="9276588" y="2532888"/>
            <a:ext cx="2125980" cy="1051560"/>
          </a:xfrm>
          <a:prstGeom prst="rect">
            <a:avLst/>
          </a:prstGeom>
          <a:noFill/>
          <a:ln/>
        </p:spPr>
        <p:txBody>
          <a:bodyPr wrap="square" lIns="0" tIns="0" rIns="0" bIns="0" rtlCol="0" anchor="t"/>
          <a:lstStyle/>
          <a:p>
            <a:pPr algn="ctr" indent="0" marL="0">
              <a:lnSpc>
                <a:spcPct val="112000"/>
              </a:lnSpc>
              <a:buNone/>
            </a:pPr>
            <a:r>
              <a:rPr lang="en-US" sz="1150" dirty="0">
                <a:solidFill>
                  <a:srgbClr val="36485A"/>
                </a:solidFill>
                <a:latin typeface="Calibri" pitchFamily="34" charset="0"/>
                <a:ea typeface="Calibri" pitchFamily="34" charset="-122"/>
                <a:cs typeface="Calibri" pitchFamily="34" charset="-120"/>
              </a:rPr>
              <a:t>Geofencing, location, reachability, congestion, quality and slicing.</a:t>
            </a:r>
            <a:endParaRPr lang="en-US" sz="1150" dirty="0"/>
          </a:p>
        </p:txBody>
      </p:sp>
      <p:sp>
        <p:nvSpPr>
          <p:cNvPr id="19" name="Shape 17"/>
          <p:cNvSpPr/>
          <p:nvPr/>
        </p:nvSpPr>
        <p:spPr>
          <a:xfrm>
            <a:off x="594360" y="4069080"/>
            <a:ext cx="3444240" cy="1463040"/>
          </a:xfrm>
          <a:prstGeom prst="roundRect">
            <a:avLst>
              <a:gd name="adj" fmla="val 6250"/>
            </a:avLst>
          </a:prstGeom>
          <a:solidFill>
            <a:srgbClr val="EDF3F6"/>
          </a:solidFill>
          <a:ln w="12700">
            <a:solidFill>
              <a:srgbClr val="EDF3F6"/>
            </a:solidFill>
            <a:prstDash val="solid"/>
          </a:ln>
        </p:spPr>
      </p:sp>
      <p:sp>
        <p:nvSpPr>
          <p:cNvPr id="20" name="Shape 18"/>
          <p:cNvSpPr/>
          <p:nvPr/>
        </p:nvSpPr>
        <p:spPr>
          <a:xfrm>
            <a:off x="850392" y="4306824"/>
            <a:ext cx="310896" cy="310896"/>
          </a:xfrm>
          <a:prstGeom prst="ellipse">
            <a:avLst/>
          </a:prstGeom>
          <a:solidFill>
            <a:srgbClr val="E8A33D"/>
          </a:solidFill>
          <a:ln w="12700">
            <a:solidFill>
              <a:srgbClr val="E8A33D"/>
            </a:solidFill>
            <a:prstDash val="solid"/>
          </a:ln>
        </p:spPr>
      </p:sp>
      <p:sp>
        <p:nvSpPr>
          <p:cNvPr id="21" name="Text 19"/>
          <p:cNvSpPr/>
          <p:nvPr/>
        </p:nvSpPr>
        <p:spPr>
          <a:xfrm>
            <a:off x="1280160" y="428853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Privacy by design</a:t>
            </a:r>
            <a:endParaRPr lang="en-US" sz="1450" dirty="0"/>
          </a:p>
        </p:txBody>
      </p:sp>
      <p:sp>
        <p:nvSpPr>
          <p:cNvPr id="22" name="Text 20"/>
          <p:cNvSpPr/>
          <p:nvPr/>
        </p:nvSpPr>
        <p:spPr>
          <a:xfrm>
            <a:off x="850392" y="4727448"/>
            <a:ext cx="2932176" cy="5943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The agent asks about a zone, not about a life. A full point is read only for a line that stayed silent in an alert.</a:t>
            </a:r>
            <a:endParaRPr lang="en-US" sz="1250" dirty="0"/>
          </a:p>
        </p:txBody>
      </p:sp>
      <p:sp>
        <p:nvSpPr>
          <p:cNvPr id="23" name="Shape 21"/>
          <p:cNvSpPr/>
          <p:nvPr/>
        </p:nvSpPr>
        <p:spPr>
          <a:xfrm>
            <a:off x="4358640" y="4069080"/>
            <a:ext cx="3444240" cy="1463040"/>
          </a:xfrm>
          <a:prstGeom prst="roundRect">
            <a:avLst>
              <a:gd name="adj" fmla="val 6250"/>
            </a:avLst>
          </a:prstGeom>
          <a:solidFill>
            <a:srgbClr val="EDF3F6"/>
          </a:solidFill>
          <a:ln w="12700">
            <a:solidFill>
              <a:srgbClr val="EDF3F6"/>
            </a:solidFill>
            <a:prstDash val="solid"/>
          </a:ln>
        </p:spPr>
      </p:sp>
      <p:sp>
        <p:nvSpPr>
          <p:cNvPr id="24" name="Shape 22"/>
          <p:cNvSpPr/>
          <p:nvPr/>
        </p:nvSpPr>
        <p:spPr>
          <a:xfrm>
            <a:off x="4614672" y="4306824"/>
            <a:ext cx="310896" cy="310896"/>
          </a:xfrm>
          <a:prstGeom prst="ellipse">
            <a:avLst/>
          </a:prstGeom>
          <a:solidFill>
            <a:srgbClr val="E8A33D"/>
          </a:solidFill>
          <a:ln w="12700">
            <a:solidFill>
              <a:srgbClr val="E8A33D"/>
            </a:solidFill>
            <a:prstDash val="solid"/>
          </a:ln>
        </p:spPr>
      </p:sp>
      <p:sp>
        <p:nvSpPr>
          <p:cNvPr id="25" name="Text 23"/>
          <p:cNvSpPr/>
          <p:nvPr/>
        </p:nvSpPr>
        <p:spPr>
          <a:xfrm>
            <a:off x="5044440" y="428853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One screen for the team</a:t>
            </a:r>
            <a:endParaRPr lang="en-US" sz="1450" dirty="0"/>
          </a:p>
        </p:txBody>
      </p:sp>
      <p:sp>
        <p:nvSpPr>
          <p:cNvPr id="26" name="Text 24"/>
          <p:cNvSpPr/>
          <p:nvPr/>
        </p:nvSpPr>
        <p:spPr>
          <a:xfrm>
            <a:off x="4614672" y="4727448"/>
            <a:ext cx="2932176" cy="5943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 live map with three lists. Answered and safe, silent and to be searched, and teams on the private lane.</a:t>
            </a:r>
            <a:endParaRPr lang="en-US" sz="1250" dirty="0"/>
          </a:p>
        </p:txBody>
      </p:sp>
      <p:sp>
        <p:nvSpPr>
          <p:cNvPr id="27" name="Shape 25"/>
          <p:cNvSpPr/>
          <p:nvPr/>
        </p:nvSpPr>
        <p:spPr>
          <a:xfrm>
            <a:off x="8122920" y="4069080"/>
            <a:ext cx="3444240" cy="1463040"/>
          </a:xfrm>
          <a:prstGeom prst="roundRect">
            <a:avLst>
              <a:gd name="adj" fmla="val 6250"/>
            </a:avLst>
          </a:prstGeom>
          <a:solidFill>
            <a:srgbClr val="EDF3F6"/>
          </a:solidFill>
          <a:ln w="12700">
            <a:solidFill>
              <a:srgbClr val="EDF3F6"/>
            </a:solidFill>
            <a:prstDash val="solid"/>
          </a:ln>
        </p:spPr>
      </p:sp>
      <p:sp>
        <p:nvSpPr>
          <p:cNvPr id="28" name="Shape 26"/>
          <p:cNvSpPr/>
          <p:nvPr/>
        </p:nvSpPr>
        <p:spPr>
          <a:xfrm>
            <a:off x="8378952" y="4306824"/>
            <a:ext cx="310896" cy="310896"/>
          </a:xfrm>
          <a:prstGeom prst="ellipse">
            <a:avLst/>
          </a:prstGeom>
          <a:solidFill>
            <a:srgbClr val="E8A33D"/>
          </a:solidFill>
          <a:ln w="12700">
            <a:solidFill>
              <a:srgbClr val="E8A33D"/>
            </a:solidFill>
            <a:prstDash val="solid"/>
          </a:ln>
        </p:spPr>
      </p:sp>
      <p:sp>
        <p:nvSpPr>
          <p:cNvPr id="29" name="Text 27"/>
          <p:cNvSpPr/>
          <p:nvPr/>
        </p:nvSpPr>
        <p:spPr>
          <a:xfrm>
            <a:off x="8808720" y="428853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Ready for the demo</a:t>
            </a:r>
            <a:endParaRPr lang="en-US" sz="1450" dirty="0"/>
          </a:p>
        </p:txBody>
      </p:sp>
      <p:sp>
        <p:nvSpPr>
          <p:cNvPr id="30" name="Text 28"/>
          <p:cNvSpPr/>
          <p:nvPr/>
        </p:nvSpPr>
        <p:spPr>
          <a:xfrm>
            <a:off x="8378952" y="4727448"/>
            <a:ext cx="2932176" cy="5943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Simulator numbers from the Nokia portal play a full flood story with no real SIM cards.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WHY THIS IS DIFFERENT</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Broadcast sends. Wadi Watch listens back</a:t>
            </a:r>
            <a:endParaRPr lang="en-US" sz="3600" dirty="0"/>
          </a:p>
        </p:txBody>
      </p:sp>
      <p:sp>
        <p:nvSpPr>
          <p:cNvPr id="4" name="Shape 2"/>
          <p:cNvSpPr/>
          <p:nvPr/>
        </p:nvSpPr>
        <p:spPr>
          <a:xfrm>
            <a:off x="594360" y="1783080"/>
            <a:ext cx="5303520" cy="3566160"/>
          </a:xfrm>
          <a:prstGeom prst="roundRect">
            <a:avLst>
              <a:gd name="adj" fmla="val 3077"/>
            </a:avLst>
          </a:prstGeom>
          <a:solidFill>
            <a:srgbClr val="F4F5F6"/>
          </a:solidFill>
          <a:ln w="12700">
            <a:solidFill>
              <a:srgbClr val="F4F5F6"/>
            </a:solidFill>
            <a:prstDash val="solid"/>
          </a:ln>
        </p:spPr>
      </p:sp>
      <p:sp>
        <p:nvSpPr>
          <p:cNvPr id="5" name="Text 3"/>
          <p:cNvSpPr/>
          <p:nvPr/>
        </p:nvSpPr>
        <p:spPr>
          <a:xfrm>
            <a:off x="914400" y="2011680"/>
            <a:ext cx="4663440" cy="365760"/>
          </a:xfrm>
          <a:prstGeom prst="rect">
            <a:avLst/>
          </a:prstGeom>
          <a:noFill/>
          <a:ln/>
        </p:spPr>
        <p:txBody>
          <a:bodyPr wrap="square" lIns="0" tIns="0" rIns="0" bIns="0" rtlCol="0" anchor="ctr"/>
          <a:lstStyle/>
          <a:p>
            <a:pPr indent="0" marL="0">
              <a:buNone/>
            </a:pPr>
            <a:r>
              <a:rPr lang="en-US" sz="1700" b="1" dirty="0">
                <a:solidFill>
                  <a:srgbClr val="62748A"/>
                </a:solidFill>
                <a:latin typeface="Calibri" pitchFamily="34" charset="0"/>
                <a:ea typeface="Calibri" pitchFamily="34" charset="-122"/>
                <a:cs typeface="Calibri" pitchFamily="34" charset="-120"/>
              </a:rPr>
              <a:t>Cell broadcast alone</a:t>
            </a:r>
            <a:endParaRPr lang="en-US" sz="1700" dirty="0"/>
          </a:p>
        </p:txBody>
      </p:sp>
      <p:sp>
        <p:nvSpPr>
          <p:cNvPr id="6" name="Shape 4"/>
          <p:cNvSpPr/>
          <p:nvPr/>
        </p:nvSpPr>
        <p:spPr>
          <a:xfrm>
            <a:off x="914400" y="2587752"/>
            <a:ext cx="201168" cy="201168"/>
          </a:xfrm>
          <a:prstGeom prst="ellipse">
            <a:avLst/>
          </a:prstGeom>
          <a:solidFill>
            <a:srgbClr val="E8A33D"/>
          </a:solidFill>
          <a:ln w="12700">
            <a:solidFill>
              <a:srgbClr val="E8A33D"/>
            </a:solidFill>
            <a:prstDash val="solid"/>
          </a:ln>
        </p:spPr>
      </p:sp>
      <p:sp>
        <p:nvSpPr>
          <p:cNvPr id="7" name="Text 5"/>
          <p:cNvSpPr/>
          <p:nvPr/>
        </p:nvSpPr>
        <p:spPr>
          <a:xfrm>
            <a:off x="1298448" y="2514600"/>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6485A"/>
                </a:solidFill>
                <a:latin typeface="Calibri" pitchFamily="34" charset="0"/>
                <a:ea typeface="Calibri" pitchFamily="34" charset="-122"/>
                <a:cs typeface="Calibri" pitchFamily="34" charset="-120"/>
              </a:rPr>
              <a:t>Reaches every phone in the cell, which is a real strength.</a:t>
            </a:r>
            <a:endParaRPr lang="en-US" sz="1350" dirty="0"/>
          </a:p>
        </p:txBody>
      </p:sp>
      <p:sp>
        <p:nvSpPr>
          <p:cNvPr id="8" name="Shape 6"/>
          <p:cNvSpPr/>
          <p:nvPr/>
        </p:nvSpPr>
        <p:spPr>
          <a:xfrm>
            <a:off x="914400" y="3300984"/>
            <a:ext cx="201168" cy="201168"/>
          </a:xfrm>
          <a:prstGeom prst="ellipse">
            <a:avLst/>
          </a:prstGeom>
          <a:solidFill>
            <a:srgbClr val="E8A33D"/>
          </a:solidFill>
          <a:ln w="12700">
            <a:solidFill>
              <a:srgbClr val="E8A33D"/>
            </a:solidFill>
            <a:prstDash val="solid"/>
          </a:ln>
        </p:spPr>
      </p:sp>
      <p:sp>
        <p:nvSpPr>
          <p:cNvPr id="9" name="Text 7"/>
          <p:cNvSpPr/>
          <p:nvPr/>
        </p:nvSpPr>
        <p:spPr>
          <a:xfrm>
            <a:off x="1298448" y="3227832"/>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6485A"/>
                </a:solidFill>
                <a:latin typeface="Calibri" pitchFamily="34" charset="0"/>
                <a:ea typeface="Calibri" pitchFamily="34" charset="-122"/>
                <a:cs typeface="Calibri" pitchFamily="34" charset="-120"/>
              </a:rPr>
              <a:t>But the same words go to a hilltop and to a valley floor.</a:t>
            </a:r>
            <a:endParaRPr lang="en-US" sz="1350" dirty="0"/>
          </a:p>
        </p:txBody>
      </p:sp>
      <p:sp>
        <p:nvSpPr>
          <p:cNvPr id="10" name="Shape 8"/>
          <p:cNvSpPr/>
          <p:nvPr/>
        </p:nvSpPr>
        <p:spPr>
          <a:xfrm>
            <a:off x="914400" y="4014216"/>
            <a:ext cx="201168" cy="201168"/>
          </a:xfrm>
          <a:prstGeom prst="ellipse">
            <a:avLst/>
          </a:prstGeom>
          <a:solidFill>
            <a:srgbClr val="E8A33D"/>
          </a:solidFill>
          <a:ln w="12700">
            <a:solidFill>
              <a:srgbClr val="E8A33D"/>
            </a:solidFill>
            <a:prstDash val="solid"/>
          </a:ln>
        </p:spPr>
      </p:sp>
      <p:sp>
        <p:nvSpPr>
          <p:cNvPr id="11" name="Text 9"/>
          <p:cNvSpPr/>
          <p:nvPr/>
        </p:nvSpPr>
        <p:spPr>
          <a:xfrm>
            <a:off x="1298448" y="3941064"/>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6485A"/>
                </a:solidFill>
                <a:latin typeface="Calibri" pitchFamily="34" charset="0"/>
                <a:ea typeface="Calibri" pitchFamily="34" charset="-122"/>
                <a:cs typeface="Calibri" pitchFamily="34" charset="-120"/>
              </a:rPr>
              <a:t>No answer comes back, so nobody knows who missed it.</a:t>
            </a:r>
            <a:endParaRPr lang="en-US" sz="1350" dirty="0"/>
          </a:p>
        </p:txBody>
      </p:sp>
      <p:sp>
        <p:nvSpPr>
          <p:cNvPr id="12" name="Shape 10"/>
          <p:cNvSpPr/>
          <p:nvPr/>
        </p:nvSpPr>
        <p:spPr>
          <a:xfrm>
            <a:off x="914400" y="4727448"/>
            <a:ext cx="201168" cy="201168"/>
          </a:xfrm>
          <a:prstGeom prst="ellipse">
            <a:avLst/>
          </a:prstGeom>
          <a:solidFill>
            <a:srgbClr val="E8A33D"/>
          </a:solidFill>
          <a:ln w="12700">
            <a:solidFill>
              <a:srgbClr val="E8A33D"/>
            </a:solidFill>
            <a:prstDash val="solid"/>
          </a:ln>
        </p:spPr>
      </p:sp>
      <p:sp>
        <p:nvSpPr>
          <p:cNvPr id="13" name="Text 11"/>
          <p:cNvSpPr/>
          <p:nvPr/>
        </p:nvSpPr>
        <p:spPr>
          <a:xfrm>
            <a:off x="1298448" y="4654296"/>
            <a:ext cx="4279392" cy="667512"/>
          </a:xfrm>
          <a:prstGeom prst="rect">
            <a:avLst/>
          </a:prstGeom>
          <a:noFill/>
          <a:ln/>
        </p:spPr>
        <p:txBody>
          <a:bodyPr wrap="square" lIns="0" tIns="0" rIns="0" bIns="0" rtlCol="0" anchor="t"/>
          <a:lstStyle/>
          <a:p>
            <a:pPr indent="0" marL="0">
              <a:lnSpc>
                <a:spcPct val="118000"/>
              </a:lnSpc>
              <a:buNone/>
            </a:pPr>
            <a:r>
              <a:rPr lang="en-US" sz="1350" dirty="0">
                <a:solidFill>
                  <a:srgbClr val="36485A"/>
                </a:solidFill>
                <a:latin typeface="Calibri" pitchFamily="34" charset="0"/>
                <a:ea typeface="Calibri" pitchFamily="34" charset="-122"/>
                <a:cs typeface="Calibri" pitchFamily="34" charset="-120"/>
              </a:rPr>
              <a:t>The team starts the search with a map and no names.</a:t>
            </a:r>
            <a:endParaRPr lang="en-US" sz="1350" dirty="0"/>
          </a:p>
        </p:txBody>
      </p:sp>
      <p:sp>
        <p:nvSpPr>
          <p:cNvPr id="14" name="Shape 12"/>
          <p:cNvSpPr/>
          <p:nvPr/>
        </p:nvSpPr>
        <p:spPr>
          <a:xfrm>
            <a:off x="6263640" y="1783080"/>
            <a:ext cx="5303520" cy="3566160"/>
          </a:xfrm>
          <a:prstGeom prst="roundRect">
            <a:avLst>
              <a:gd name="adj" fmla="val 3077"/>
            </a:avLst>
          </a:prstGeom>
          <a:solidFill>
            <a:srgbClr val="10233F"/>
          </a:solidFill>
          <a:ln w="12700">
            <a:solidFill>
              <a:srgbClr val="10233F"/>
            </a:solidFill>
            <a:prstDash val="solid"/>
          </a:ln>
        </p:spPr>
      </p:sp>
      <p:sp>
        <p:nvSpPr>
          <p:cNvPr id="15" name="Text 13"/>
          <p:cNvSpPr/>
          <p:nvPr/>
        </p:nvSpPr>
        <p:spPr>
          <a:xfrm>
            <a:off x="6583680" y="2011680"/>
            <a:ext cx="4663440" cy="36576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Broadcast plus Wadi Watch</a:t>
            </a:r>
            <a:endParaRPr lang="en-US" sz="1700" dirty="0"/>
          </a:p>
        </p:txBody>
      </p:sp>
      <p:sp>
        <p:nvSpPr>
          <p:cNvPr id="16" name="Shape 14"/>
          <p:cNvSpPr/>
          <p:nvPr/>
        </p:nvSpPr>
        <p:spPr>
          <a:xfrm>
            <a:off x="6583680" y="2587752"/>
            <a:ext cx="182880" cy="182880"/>
          </a:xfrm>
          <a:prstGeom prst="ellipse">
            <a:avLst/>
          </a:prstGeom>
          <a:solidFill>
            <a:srgbClr val="E8A33D"/>
          </a:solidFill>
          <a:ln w="12700">
            <a:solidFill>
              <a:srgbClr val="E8A33D"/>
            </a:solidFill>
            <a:prstDash val="solid"/>
          </a:ln>
        </p:spPr>
      </p:sp>
      <p:sp>
        <p:nvSpPr>
          <p:cNvPr id="17" name="Text 15"/>
          <p:cNvSpPr/>
          <p:nvPr/>
        </p:nvSpPr>
        <p:spPr>
          <a:xfrm>
            <a:off x="6931152" y="2514600"/>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broadcast still goes out. We sit on top of it.</a:t>
            </a:r>
            <a:endParaRPr lang="en-US" sz="1350" dirty="0"/>
          </a:p>
        </p:txBody>
      </p:sp>
      <p:sp>
        <p:nvSpPr>
          <p:cNvPr id="18" name="Shape 16"/>
          <p:cNvSpPr/>
          <p:nvPr/>
        </p:nvSpPr>
        <p:spPr>
          <a:xfrm>
            <a:off x="6583680" y="3300984"/>
            <a:ext cx="182880" cy="182880"/>
          </a:xfrm>
          <a:prstGeom prst="ellipse">
            <a:avLst/>
          </a:prstGeom>
          <a:solidFill>
            <a:srgbClr val="E8A33D"/>
          </a:solidFill>
          <a:ln w="12700">
            <a:solidFill>
              <a:srgbClr val="E8A33D"/>
            </a:solidFill>
            <a:prstDash val="solid"/>
          </a:ln>
        </p:spPr>
      </p:sp>
      <p:sp>
        <p:nvSpPr>
          <p:cNvPr id="19" name="Text 17"/>
          <p:cNvSpPr/>
          <p:nvPr/>
        </p:nvSpPr>
        <p:spPr>
          <a:xfrm>
            <a:off x="6931152" y="3227832"/>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Enrolled people get words tied to their own place.</a:t>
            </a:r>
            <a:endParaRPr lang="en-US" sz="1350" dirty="0"/>
          </a:p>
        </p:txBody>
      </p:sp>
      <p:sp>
        <p:nvSpPr>
          <p:cNvPr id="20" name="Shape 18"/>
          <p:cNvSpPr/>
          <p:nvPr/>
        </p:nvSpPr>
        <p:spPr>
          <a:xfrm>
            <a:off x="6583680" y="4014216"/>
            <a:ext cx="182880" cy="182880"/>
          </a:xfrm>
          <a:prstGeom prst="ellipse">
            <a:avLst/>
          </a:prstGeom>
          <a:solidFill>
            <a:srgbClr val="E8A33D"/>
          </a:solidFill>
          <a:ln w="12700">
            <a:solidFill>
              <a:srgbClr val="E8A33D"/>
            </a:solidFill>
            <a:prstDash val="solid"/>
          </a:ln>
        </p:spPr>
      </p:sp>
      <p:sp>
        <p:nvSpPr>
          <p:cNvPr id="21" name="Text 19"/>
          <p:cNvSpPr/>
          <p:nvPr/>
        </p:nvSpPr>
        <p:spPr>
          <a:xfrm>
            <a:off x="6931152" y="3941064"/>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Silent lines come back as a short, ordered search list.</a:t>
            </a:r>
            <a:endParaRPr lang="en-US" sz="1350" dirty="0"/>
          </a:p>
        </p:txBody>
      </p:sp>
      <p:sp>
        <p:nvSpPr>
          <p:cNvPr id="22" name="Shape 20"/>
          <p:cNvSpPr/>
          <p:nvPr/>
        </p:nvSpPr>
        <p:spPr>
          <a:xfrm>
            <a:off x="6583680" y="4727448"/>
            <a:ext cx="182880" cy="182880"/>
          </a:xfrm>
          <a:prstGeom prst="ellipse">
            <a:avLst/>
          </a:prstGeom>
          <a:solidFill>
            <a:srgbClr val="E8A33D"/>
          </a:solidFill>
          <a:ln w="12700">
            <a:solidFill>
              <a:srgbClr val="E8A33D"/>
            </a:solidFill>
            <a:prstDash val="solid"/>
          </a:ln>
        </p:spPr>
      </p:sp>
      <p:sp>
        <p:nvSpPr>
          <p:cNvPr id="23" name="Text 21"/>
          <p:cNvSpPr/>
          <p:nvPr/>
        </p:nvSpPr>
        <p:spPr>
          <a:xfrm>
            <a:off x="6931152" y="4654296"/>
            <a:ext cx="4389120" cy="658368"/>
          </a:xfrm>
          <a:prstGeom prst="rect">
            <a:avLst/>
          </a:prstGeom>
          <a:noFill/>
          <a:ln/>
        </p:spPr>
        <p:txBody>
          <a:bodyPr wrap="square" lIns="0" tIns="0" rIns="0" bIns="0"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The team keeps a private lane while the cell is full.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IMPACT</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The first hour is the one that saves lives</a:t>
            </a:r>
            <a:endParaRPr lang="en-US" sz="3600" dirty="0"/>
          </a:p>
        </p:txBody>
      </p:sp>
      <p:graphicFrame>
        <p:nvGraphicFramePr>
          <p:cNvPr id="4" name="Chart 0" descr=""/>
          <p:cNvGraphicFramePr/>
          <p:nvPr/>
        </p:nvGraphicFramePr>
        <p:xfrm>
          <a:off x="594360" y="178308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783080"/>
            <a:ext cx="4617720" cy="1188720"/>
          </a:xfrm>
          <a:prstGeom prst="roundRect">
            <a:avLst>
              <a:gd name="adj" fmla="val 7692"/>
            </a:avLst>
          </a:prstGeom>
          <a:solidFill>
            <a:srgbClr val="EDF3F6"/>
          </a:solidFill>
          <a:ln w="12700">
            <a:solidFill>
              <a:srgbClr val="EDF3F6"/>
            </a:solidFill>
            <a:prstDash val="solid"/>
          </a:ln>
        </p:spPr>
      </p:sp>
      <p:sp>
        <p:nvSpPr>
          <p:cNvPr id="6" name="Shape 3"/>
          <p:cNvSpPr/>
          <p:nvPr/>
        </p:nvSpPr>
        <p:spPr>
          <a:xfrm>
            <a:off x="7205472" y="2020824"/>
            <a:ext cx="310896" cy="310896"/>
          </a:xfrm>
          <a:prstGeom prst="ellipse">
            <a:avLst/>
          </a:prstGeom>
          <a:solidFill>
            <a:srgbClr val="E8A33D"/>
          </a:solidFill>
          <a:ln w="12700">
            <a:solidFill>
              <a:srgbClr val="E8A33D"/>
            </a:solidFill>
            <a:prstDash val="solid"/>
          </a:ln>
        </p:spPr>
      </p:sp>
      <p:sp>
        <p:nvSpPr>
          <p:cNvPr id="7" name="Text 4"/>
          <p:cNvSpPr/>
          <p:nvPr/>
        </p:nvSpPr>
        <p:spPr>
          <a:xfrm>
            <a:off x="7635240" y="2002536"/>
            <a:ext cx="370332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For families</a:t>
            </a:r>
            <a:endParaRPr lang="en-US" sz="1450" dirty="0"/>
          </a:p>
        </p:txBody>
      </p:sp>
      <p:sp>
        <p:nvSpPr>
          <p:cNvPr id="8" name="Text 5"/>
          <p:cNvSpPr/>
          <p:nvPr/>
        </p:nvSpPr>
        <p:spPr>
          <a:xfrm>
            <a:off x="7205472" y="2441448"/>
            <a:ext cx="4105656" cy="32004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 warning tied to their own street, and a team that knows they never answered.</a:t>
            </a:r>
            <a:endParaRPr lang="en-US" sz="1250" dirty="0"/>
          </a:p>
        </p:txBody>
      </p:sp>
      <p:sp>
        <p:nvSpPr>
          <p:cNvPr id="9" name="Shape 6"/>
          <p:cNvSpPr/>
          <p:nvPr/>
        </p:nvSpPr>
        <p:spPr>
          <a:xfrm>
            <a:off x="6949440" y="3154680"/>
            <a:ext cx="4617720" cy="1188720"/>
          </a:xfrm>
          <a:prstGeom prst="roundRect">
            <a:avLst>
              <a:gd name="adj" fmla="val 7692"/>
            </a:avLst>
          </a:prstGeom>
          <a:solidFill>
            <a:srgbClr val="EDF3F6"/>
          </a:solidFill>
          <a:ln w="12700">
            <a:solidFill>
              <a:srgbClr val="EDF3F6"/>
            </a:solidFill>
            <a:prstDash val="solid"/>
          </a:ln>
        </p:spPr>
      </p:sp>
      <p:sp>
        <p:nvSpPr>
          <p:cNvPr id="10" name="Shape 7"/>
          <p:cNvSpPr/>
          <p:nvPr/>
        </p:nvSpPr>
        <p:spPr>
          <a:xfrm>
            <a:off x="7205472" y="3392424"/>
            <a:ext cx="310896" cy="310896"/>
          </a:xfrm>
          <a:prstGeom prst="ellipse">
            <a:avLst/>
          </a:prstGeom>
          <a:solidFill>
            <a:srgbClr val="E8A33D"/>
          </a:solidFill>
          <a:ln w="12700">
            <a:solidFill>
              <a:srgbClr val="E8A33D"/>
            </a:solidFill>
            <a:prstDash val="solid"/>
          </a:ln>
        </p:spPr>
      </p:sp>
      <p:sp>
        <p:nvSpPr>
          <p:cNvPr id="11" name="Text 8"/>
          <p:cNvSpPr/>
          <p:nvPr/>
        </p:nvSpPr>
        <p:spPr>
          <a:xfrm>
            <a:off x="7635240" y="3374136"/>
            <a:ext cx="370332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For city teams</a:t>
            </a:r>
            <a:endParaRPr lang="en-US" sz="1450" dirty="0"/>
          </a:p>
        </p:txBody>
      </p:sp>
      <p:sp>
        <p:nvSpPr>
          <p:cNvPr id="12" name="Text 9"/>
          <p:cNvSpPr/>
          <p:nvPr/>
        </p:nvSpPr>
        <p:spPr>
          <a:xfrm>
            <a:off x="7205472" y="3813048"/>
            <a:ext cx="4105656" cy="32004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 short list instead of a whole map, and a working radio picture from minute one.</a:t>
            </a:r>
            <a:endParaRPr lang="en-US" sz="1250" dirty="0"/>
          </a:p>
        </p:txBody>
      </p:sp>
      <p:sp>
        <p:nvSpPr>
          <p:cNvPr id="13" name="Shape 10"/>
          <p:cNvSpPr/>
          <p:nvPr/>
        </p:nvSpPr>
        <p:spPr>
          <a:xfrm>
            <a:off x="6949440" y="4526280"/>
            <a:ext cx="4617720" cy="1188720"/>
          </a:xfrm>
          <a:prstGeom prst="roundRect">
            <a:avLst>
              <a:gd name="adj" fmla="val 7692"/>
            </a:avLst>
          </a:prstGeom>
          <a:solidFill>
            <a:srgbClr val="EDF3F6"/>
          </a:solidFill>
          <a:ln w="12700">
            <a:solidFill>
              <a:srgbClr val="EDF3F6"/>
            </a:solidFill>
            <a:prstDash val="solid"/>
          </a:ln>
        </p:spPr>
      </p:sp>
      <p:sp>
        <p:nvSpPr>
          <p:cNvPr id="14" name="Shape 11"/>
          <p:cNvSpPr/>
          <p:nvPr/>
        </p:nvSpPr>
        <p:spPr>
          <a:xfrm>
            <a:off x="7205472" y="4764024"/>
            <a:ext cx="310896" cy="310896"/>
          </a:xfrm>
          <a:prstGeom prst="ellipse">
            <a:avLst/>
          </a:prstGeom>
          <a:solidFill>
            <a:srgbClr val="E8A33D"/>
          </a:solidFill>
          <a:ln w="12700">
            <a:solidFill>
              <a:srgbClr val="E8A33D"/>
            </a:solidFill>
            <a:prstDash val="solid"/>
          </a:ln>
        </p:spPr>
      </p:sp>
      <p:sp>
        <p:nvSpPr>
          <p:cNvPr id="15" name="Text 12"/>
          <p:cNvSpPr/>
          <p:nvPr/>
        </p:nvSpPr>
        <p:spPr>
          <a:xfrm>
            <a:off x="7635240" y="4745736"/>
            <a:ext cx="370332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For the region</a:t>
            </a:r>
            <a:endParaRPr lang="en-US" sz="1450" dirty="0"/>
          </a:p>
        </p:txBody>
      </p:sp>
      <p:sp>
        <p:nvSpPr>
          <p:cNvPr id="16" name="Text 13"/>
          <p:cNvSpPr/>
          <p:nvPr/>
        </p:nvSpPr>
        <p:spPr>
          <a:xfrm>
            <a:off x="7205472" y="5184648"/>
            <a:ext cx="4105656" cy="32004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The same agent fits heat waves, dust storms, fires and earthquake response.</a:t>
            </a:r>
            <a:endParaRPr lang="en-US" sz="1250" dirty="0"/>
          </a:p>
        </p:txBody>
      </p:sp>
      <p:sp>
        <p:nvSpPr>
          <p:cNvPr id="17" name="Text 14"/>
          <p:cNvSpPr/>
          <p:nvPr/>
        </p:nvSpPr>
        <p:spPr>
          <a:xfrm>
            <a:off x="594360" y="5212080"/>
            <a:ext cx="10972800" cy="320040"/>
          </a:xfrm>
          <a:prstGeom prst="rect">
            <a:avLst/>
          </a:prstGeom>
          <a:noFill/>
          <a:ln/>
        </p:spPr>
        <p:txBody>
          <a:bodyPr wrap="square" lIns="0" tIns="0" rIns="0" bIns="0" rtlCol="0" anchor="ctr"/>
          <a:lstStyle/>
          <a:p>
            <a:pPr indent="0" marL="0">
              <a:buNone/>
            </a:pPr>
            <a:r>
              <a:rPr lang="en-US" sz="1100" i="1" dirty="0">
                <a:solidFill>
                  <a:srgbClr val="62748A"/>
                </a:solidFill>
                <a:latin typeface="Calibri" pitchFamily="34" charset="0"/>
                <a:ea typeface="Calibri" pitchFamily="34" charset="-122"/>
                <a:cs typeface="Calibri" pitchFamily="34" charset="-120"/>
              </a:rPr>
              <a:t>This is our own model, not measured data. We show the assumptions behind it in the demo.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WHAT COULD GO WRONG</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The four hard questions, answered</a:t>
            </a:r>
            <a:endParaRPr lang="en-US" sz="3600" dirty="0"/>
          </a:p>
        </p:txBody>
      </p:sp>
      <p:sp>
        <p:nvSpPr>
          <p:cNvPr id="4" name="Shape 2"/>
          <p:cNvSpPr/>
          <p:nvPr/>
        </p:nvSpPr>
        <p:spPr>
          <a:xfrm>
            <a:off x="594360" y="1874520"/>
            <a:ext cx="5326380" cy="1417320"/>
          </a:xfrm>
          <a:prstGeom prst="roundRect">
            <a:avLst>
              <a:gd name="adj" fmla="val 6452"/>
            </a:avLst>
          </a:prstGeom>
          <a:solidFill>
            <a:srgbClr val="EDF3F6"/>
          </a:solidFill>
          <a:ln w="12700">
            <a:solidFill>
              <a:srgbClr val="EDF3F6"/>
            </a:solidFill>
            <a:prstDash val="solid"/>
          </a:ln>
        </p:spPr>
      </p:sp>
      <p:sp>
        <p:nvSpPr>
          <p:cNvPr id="5" name="Text 3"/>
          <p:cNvSpPr/>
          <p:nvPr/>
        </p:nvSpPr>
        <p:spPr>
          <a:xfrm>
            <a:off x="850392" y="2057400"/>
            <a:ext cx="4814316" cy="292608"/>
          </a:xfrm>
          <a:prstGeom prst="rect">
            <a:avLst/>
          </a:prstGeom>
          <a:noFill/>
          <a:ln/>
        </p:spPr>
        <p:txBody>
          <a:bodyPr wrap="square" lIns="0" tIns="0" rIns="0" bIns="0"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Only enrolled people are covered</a:t>
            </a:r>
            <a:endParaRPr lang="en-US" sz="1400" dirty="0"/>
          </a:p>
        </p:txBody>
      </p:sp>
      <p:sp>
        <p:nvSpPr>
          <p:cNvPr id="6" name="Text 4"/>
          <p:cNvSpPr/>
          <p:nvPr/>
        </p:nvSpPr>
        <p:spPr>
          <a:xfrm>
            <a:off x="850392" y="2377440"/>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True, and we say so. Broadcast covers everyone, we cover the highest risk group properly. Starting with sites and valley streets gets real coverage where it matters most.</a:t>
            </a:r>
            <a:endParaRPr lang="en-US" sz="1250" dirty="0"/>
          </a:p>
        </p:txBody>
      </p:sp>
      <p:sp>
        <p:nvSpPr>
          <p:cNvPr id="7" name="Shape 5"/>
          <p:cNvSpPr/>
          <p:nvPr/>
        </p:nvSpPr>
        <p:spPr>
          <a:xfrm>
            <a:off x="6240780" y="1874520"/>
            <a:ext cx="5326380" cy="1417320"/>
          </a:xfrm>
          <a:prstGeom prst="roundRect">
            <a:avLst>
              <a:gd name="adj" fmla="val 6452"/>
            </a:avLst>
          </a:prstGeom>
          <a:solidFill>
            <a:srgbClr val="EDF3F6"/>
          </a:solidFill>
          <a:ln w="12700">
            <a:solidFill>
              <a:srgbClr val="EDF3F6"/>
            </a:solidFill>
            <a:prstDash val="solid"/>
          </a:ln>
        </p:spPr>
      </p:sp>
      <p:sp>
        <p:nvSpPr>
          <p:cNvPr id="8" name="Text 6"/>
          <p:cNvSpPr/>
          <p:nvPr/>
        </p:nvSpPr>
        <p:spPr>
          <a:xfrm>
            <a:off x="6496812" y="2057400"/>
            <a:ext cx="4814316" cy="292608"/>
          </a:xfrm>
          <a:prstGeom prst="rect">
            <a:avLst/>
          </a:prstGeom>
          <a:noFill/>
          <a:ln/>
        </p:spPr>
        <p:txBody>
          <a:bodyPr wrap="square" lIns="0" tIns="0" rIns="0" bIns="0"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Sign up is slow</a:t>
            </a:r>
            <a:endParaRPr lang="en-US" sz="1400" dirty="0"/>
          </a:p>
        </p:txBody>
      </p:sp>
      <p:sp>
        <p:nvSpPr>
          <p:cNvPr id="9" name="Text 7"/>
          <p:cNvSpPr/>
          <p:nvPr/>
        </p:nvSpPr>
        <p:spPr>
          <a:xfrm>
            <a:off x="6496812" y="2377440"/>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So we do not sell to one person at a time. A city, a site owner or a co operative enrols a whole group at once, from lists they already keep.</a:t>
            </a:r>
            <a:endParaRPr lang="en-US" sz="1250" dirty="0"/>
          </a:p>
        </p:txBody>
      </p:sp>
      <p:sp>
        <p:nvSpPr>
          <p:cNvPr id="10" name="Shape 8"/>
          <p:cNvSpPr/>
          <p:nvPr/>
        </p:nvSpPr>
        <p:spPr>
          <a:xfrm>
            <a:off x="594360" y="3547872"/>
            <a:ext cx="5326380" cy="1417320"/>
          </a:xfrm>
          <a:prstGeom prst="roundRect">
            <a:avLst>
              <a:gd name="adj" fmla="val 6452"/>
            </a:avLst>
          </a:prstGeom>
          <a:solidFill>
            <a:srgbClr val="EDF3F6"/>
          </a:solidFill>
          <a:ln w="12700">
            <a:solidFill>
              <a:srgbClr val="EDF3F6"/>
            </a:solidFill>
            <a:prstDash val="solid"/>
          </a:ln>
        </p:spPr>
      </p:sp>
      <p:sp>
        <p:nvSpPr>
          <p:cNvPr id="11" name="Text 9"/>
          <p:cNvSpPr/>
          <p:nvPr/>
        </p:nvSpPr>
        <p:spPr>
          <a:xfrm>
            <a:off x="850392" y="3730752"/>
            <a:ext cx="4814316" cy="292608"/>
          </a:xfrm>
          <a:prstGeom prst="rect">
            <a:avLst/>
          </a:prstGeom>
          <a:noFill/>
          <a:ln/>
        </p:spPr>
        <p:txBody>
          <a:bodyPr wrap="square" lIns="0" tIns="0" rIns="0" bIns="0"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A silent line is not proof</a:t>
            </a:r>
            <a:endParaRPr lang="en-US" sz="1400" dirty="0"/>
          </a:p>
        </p:txBody>
      </p:sp>
      <p:sp>
        <p:nvSpPr>
          <p:cNvPr id="12" name="Text 10"/>
          <p:cNvSpPr/>
          <p:nvPr/>
        </p:nvSpPr>
        <p:spPr>
          <a:xfrm>
            <a:off x="850392" y="4050792"/>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A phone can be off for many reasons. That is why the list is ordered, not final, and a human team always makes the call.</a:t>
            </a:r>
            <a:endParaRPr lang="en-US" sz="1250" dirty="0"/>
          </a:p>
        </p:txBody>
      </p:sp>
      <p:sp>
        <p:nvSpPr>
          <p:cNvPr id="13" name="Shape 11"/>
          <p:cNvSpPr/>
          <p:nvPr/>
        </p:nvSpPr>
        <p:spPr>
          <a:xfrm>
            <a:off x="6240780" y="3547872"/>
            <a:ext cx="5326380" cy="1417320"/>
          </a:xfrm>
          <a:prstGeom prst="roundRect">
            <a:avLst>
              <a:gd name="adj" fmla="val 6452"/>
            </a:avLst>
          </a:prstGeom>
          <a:solidFill>
            <a:srgbClr val="EDF3F6"/>
          </a:solidFill>
          <a:ln w="12700">
            <a:solidFill>
              <a:srgbClr val="EDF3F6"/>
            </a:solidFill>
            <a:prstDash val="solid"/>
          </a:ln>
        </p:spPr>
      </p:sp>
      <p:sp>
        <p:nvSpPr>
          <p:cNvPr id="14" name="Text 12"/>
          <p:cNvSpPr/>
          <p:nvPr/>
        </p:nvSpPr>
        <p:spPr>
          <a:xfrm>
            <a:off x="6496812" y="3730752"/>
            <a:ext cx="4814316" cy="292608"/>
          </a:xfrm>
          <a:prstGeom prst="rect">
            <a:avLst/>
          </a:prstGeom>
          <a:noFill/>
          <a:ln/>
        </p:spPr>
        <p:txBody>
          <a:bodyPr wrap="square" lIns="0" tIns="0" rIns="0" bIns="0" rtlCol="0" anchor="ctr"/>
          <a:lstStyle/>
          <a:p>
            <a:pPr indent="0" marL="0">
              <a:buNone/>
            </a:pPr>
            <a:r>
              <a:rPr lang="en-US" sz="1400" b="1" dirty="0">
                <a:solidFill>
                  <a:srgbClr val="10233F"/>
                </a:solidFill>
                <a:latin typeface="Calibri" pitchFamily="34" charset="0"/>
                <a:ea typeface="Calibri" pitchFamily="34" charset="-122"/>
                <a:cs typeface="Calibri" pitchFamily="34" charset="-120"/>
              </a:rPr>
              <a:t>Slicing may not be live</a:t>
            </a:r>
            <a:endParaRPr lang="en-US" sz="1400" dirty="0"/>
          </a:p>
        </p:txBody>
      </p:sp>
      <p:sp>
        <p:nvSpPr>
          <p:cNvPr id="15" name="Text 13"/>
          <p:cNvSpPr/>
          <p:nvPr/>
        </p:nvSpPr>
        <p:spPr>
          <a:xfrm>
            <a:off x="6496812" y="4050792"/>
            <a:ext cx="4814316" cy="73152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Where slicing is not available yet, the agent falls back to Quality on Demand, and the product still works without either.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058400" cy="274320"/>
          </a:xfrm>
          <a:prstGeom prst="rect">
            <a:avLst/>
          </a:prstGeom>
          <a:noFill/>
          <a:ln/>
        </p:spPr>
        <p:txBody>
          <a:bodyPr wrap="square" lIns="0" tIns="0" rIns="0" bIns="0" rtlCol="0" anchor="ctr"/>
          <a:lstStyle/>
          <a:p>
            <a:pPr indent="0" marL="0">
              <a:buNone/>
            </a:pPr>
            <a:r>
              <a:rPr lang="en-US" sz="1100" b="1" spc="300" kern="0" dirty="0">
                <a:solidFill>
                  <a:srgbClr val="B57415"/>
                </a:solidFill>
                <a:latin typeface="Calibri" pitchFamily="34" charset="0"/>
                <a:ea typeface="Calibri" pitchFamily="34" charset="-122"/>
                <a:cs typeface="Calibri" pitchFamily="34" charset="-120"/>
              </a:rPr>
              <a:t>BUSINESS MODEL AND PLAN</a:t>
            </a:r>
            <a:endParaRPr lang="en-US" sz="1100" dirty="0"/>
          </a:p>
        </p:txBody>
      </p:sp>
      <p:sp>
        <p:nvSpPr>
          <p:cNvPr id="3" name="Text 1"/>
          <p:cNvSpPr/>
          <p:nvPr/>
        </p:nvSpPr>
        <p:spPr>
          <a:xfrm>
            <a:off x="594360" y="658368"/>
            <a:ext cx="10789920" cy="777240"/>
          </a:xfrm>
          <a:prstGeom prst="rect">
            <a:avLst/>
          </a:prstGeom>
          <a:noFill/>
          <a:ln/>
        </p:spPr>
        <p:txBody>
          <a:bodyPr wrap="square" lIns="0" tIns="0" rIns="0" bIns="0" rtlCol="0" anchor="ctr"/>
          <a:lstStyle/>
          <a:p>
            <a:pPr indent="0" marL="0">
              <a:buNone/>
            </a:pPr>
            <a:r>
              <a:rPr lang="en-US" sz="3600" b="1" dirty="0">
                <a:solidFill>
                  <a:srgbClr val="10233F"/>
                </a:solidFill>
                <a:latin typeface="Cambria" pitchFamily="34" charset="0"/>
                <a:ea typeface="Cambria" pitchFamily="34" charset="-122"/>
                <a:cs typeface="Cambria" pitchFamily="34" charset="-120"/>
              </a:rPr>
              <a:t>A licence for cities, a fee for each site</a:t>
            </a:r>
            <a:endParaRPr lang="en-US" sz="3600" dirty="0"/>
          </a:p>
        </p:txBody>
      </p:sp>
      <p:sp>
        <p:nvSpPr>
          <p:cNvPr id="4" name="Shape 2"/>
          <p:cNvSpPr/>
          <p:nvPr/>
        </p:nvSpPr>
        <p:spPr>
          <a:xfrm>
            <a:off x="594360" y="1737360"/>
            <a:ext cx="3444240" cy="1920240"/>
          </a:xfrm>
          <a:prstGeom prst="roundRect">
            <a:avLst>
              <a:gd name="adj" fmla="val 4762"/>
            </a:avLst>
          </a:prstGeom>
          <a:solidFill>
            <a:srgbClr val="EDF3F6"/>
          </a:solidFill>
          <a:ln w="12700">
            <a:solidFill>
              <a:srgbClr val="EDF3F6"/>
            </a:solidFill>
            <a:prstDash val="solid"/>
          </a:ln>
        </p:spPr>
      </p:sp>
      <p:sp>
        <p:nvSpPr>
          <p:cNvPr id="5" name="Shape 3"/>
          <p:cNvSpPr/>
          <p:nvPr/>
        </p:nvSpPr>
        <p:spPr>
          <a:xfrm>
            <a:off x="850392" y="1975104"/>
            <a:ext cx="310896" cy="310896"/>
          </a:xfrm>
          <a:prstGeom prst="ellipse">
            <a:avLst/>
          </a:prstGeom>
          <a:solidFill>
            <a:srgbClr val="E8A33D"/>
          </a:solidFill>
          <a:ln w="12700">
            <a:solidFill>
              <a:srgbClr val="E8A33D"/>
            </a:solidFill>
            <a:prstDash val="solid"/>
          </a:ln>
        </p:spPr>
      </p:sp>
      <p:sp>
        <p:nvSpPr>
          <p:cNvPr id="6" name="Text 4"/>
          <p:cNvSpPr/>
          <p:nvPr/>
        </p:nvSpPr>
        <p:spPr>
          <a:xfrm>
            <a:off x="1280160" y="195681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Who pays first</a:t>
            </a:r>
            <a:endParaRPr lang="en-US" sz="1450" dirty="0"/>
          </a:p>
        </p:txBody>
      </p:sp>
      <p:sp>
        <p:nvSpPr>
          <p:cNvPr id="7" name="Text 5"/>
          <p:cNvSpPr/>
          <p:nvPr/>
        </p:nvSpPr>
        <p:spPr>
          <a:xfrm>
            <a:off x="850392" y="2395728"/>
            <a:ext cx="2932176" cy="10515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Mines, farms, building sites and logistics firms pay per worker. They move fast and they already own the risk.</a:t>
            </a:r>
            <a:endParaRPr lang="en-US" sz="1250" dirty="0"/>
          </a:p>
        </p:txBody>
      </p:sp>
      <p:sp>
        <p:nvSpPr>
          <p:cNvPr id="8" name="Shape 6"/>
          <p:cNvSpPr/>
          <p:nvPr/>
        </p:nvSpPr>
        <p:spPr>
          <a:xfrm>
            <a:off x="4358640" y="1737360"/>
            <a:ext cx="3444240" cy="1920240"/>
          </a:xfrm>
          <a:prstGeom prst="roundRect">
            <a:avLst>
              <a:gd name="adj" fmla="val 4762"/>
            </a:avLst>
          </a:prstGeom>
          <a:solidFill>
            <a:srgbClr val="EDF3F6"/>
          </a:solidFill>
          <a:ln w="12700">
            <a:solidFill>
              <a:srgbClr val="EDF3F6"/>
            </a:solidFill>
            <a:prstDash val="solid"/>
          </a:ln>
        </p:spPr>
      </p:sp>
      <p:sp>
        <p:nvSpPr>
          <p:cNvPr id="9" name="Shape 7"/>
          <p:cNvSpPr/>
          <p:nvPr/>
        </p:nvSpPr>
        <p:spPr>
          <a:xfrm>
            <a:off x="4614672" y="1975104"/>
            <a:ext cx="310896" cy="310896"/>
          </a:xfrm>
          <a:prstGeom prst="ellipse">
            <a:avLst/>
          </a:prstGeom>
          <a:solidFill>
            <a:srgbClr val="E8A33D"/>
          </a:solidFill>
          <a:ln w="12700">
            <a:solidFill>
              <a:srgbClr val="E8A33D"/>
            </a:solidFill>
            <a:prstDash val="solid"/>
          </a:ln>
        </p:spPr>
      </p:sp>
      <p:sp>
        <p:nvSpPr>
          <p:cNvPr id="10" name="Text 8"/>
          <p:cNvSpPr/>
          <p:nvPr/>
        </p:nvSpPr>
        <p:spPr>
          <a:xfrm>
            <a:off x="5044440" y="195681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Who pays next</a:t>
            </a:r>
            <a:endParaRPr lang="en-US" sz="1450" dirty="0"/>
          </a:p>
        </p:txBody>
      </p:sp>
      <p:sp>
        <p:nvSpPr>
          <p:cNvPr id="11" name="Text 9"/>
          <p:cNvSpPr/>
          <p:nvPr/>
        </p:nvSpPr>
        <p:spPr>
          <a:xfrm>
            <a:off x="4614672" y="2395728"/>
            <a:ext cx="2932176" cy="10515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Civil defence bodies and city councils pay a yearly licence for the streets and valleys they protect.</a:t>
            </a:r>
            <a:endParaRPr lang="en-US" sz="1250" dirty="0"/>
          </a:p>
        </p:txBody>
      </p:sp>
      <p:sp>
        <p:nvSpPr>
          <p:cNvPr id="12" name="Shape 10"/>
          <p:cNvSpPr/>
          <p:nvPr/>
        </p:nvSpPr>
        <p:spPr>
          <a:xfrm>
            <a:off x="8122920" y="1737360"/>
            <a:ext cx="3444240" cy="1920240"/>
          </a:xfrm>
          <a:prstGeom prst="roundRect">
            <a:avLst>
              <a:gd name="adj" fmla="val 4762"/>
            </a:avLst>
          </a:prstGeom>
          <a:solidFill>
            <a:srgbClr val="EDF3F6"/>
          </a:solidFill>
          <a:ln w="12700">
            <a:solidFill>
              <a:srgbClr val="EDF3F6"/>
            </a:solidFill>
            <a:prstDash val="solid"/>
          </a:ln>
        </p:spPr>
      </p:sp>
      <p:sp>
        <p:nvSpPr>
          <p:cNvPr id="13" name="Shape 11"/>
          <p:cNvSpPr/>
          <p:nvPr/>
        </p:nvSpPr>
        <p:spPr>
          <a:xfrm>
            <a:off x="8378952" y="1975104"/>
            <a:ext cx="310896" cy="310896"/>
          </a:xfrm>
          <a:prstGeom prst="ellipse">
            <a:avLst/>
          </a:prstGeom>
          <a:solidFill>
            <a:srgbClr val="E8A33D"/>
          </a:solidFill>
          <a:ln w="12700">
            <a:solidFill>
              <a:srgbClr val="E8A33D"/>
            </a:solidFill>
            <a:prstDash val="solid"/>
          </a:ln>
        </p:spPr>
      </p:sp>
      <p:sp>
        <p:nvSpPr>
          <p:cNvPr id="14" name="Text 12"/>
          <p:cNvSpPr/>
          <p:nvPr/>
        </p:nvSpPr>
        <p:spPr>
          <a:xfrm>
            <a:off x="8808720" y="1956816"/>
            <a:ext cx="2529840" cy="365760"/>
          </a:xfrm>
          <a:prstGeom prst="rect">
            <a:avLst/>
          </a:prstGeom>
          <a:noFill/>
          <a:ln/>
        </p:spPr>
        <p:txBody>
          <a:bodyPr wrap="square" lIns="0" tIns="0" rIns="0" bIns="0" rtlCol="0" anchor="ctr"/>
          <a:lstStyle/>
          <a:p>
            <a:pPr indent="0" marL="0">
              <a:buNone/>
            </a:pPr>
            <a:r>
              <a:rPr lang="en-US" sz="1450" b="1" dirty="0">
                <a:solidFill>
                  <a:srgbClr val="10233F"/>
                </a:solidFill>
                <a:latin typeface="Calibri" pitchFamily="34" charset="0"/>
                <a:ea typeface="Calibri" pitchFamily="34" charset="-122"/>
                <a:cs typeface="Calibri" pitchFamily="34" charset="-120"/>
              </a:rPr>
              <a:t>The operator share</a:t>
            </a:r>
            <a:endParaRPr lang="en-US" sz="1450" dirty="0"/>
          </a:p>
        </p:txBody>
      </p:sp>
      <p:sp>
        <p:nvSpPr>
          <p:cNvPr id="15" name="Text 13"/>
          <p:cNvSpPr/>
          <p:nvPr/>
        </p:nvSpPr>
        <p:spPr>
          <a:xfrm>
            <a:off x="8378952" y="2395728"/>
            <a:ext cx="2932176" cy="1051560"/>
          </a:xfrm>
          <a:prstGeom prst="rect">
            <a:avLst/>
          </a:prstGeom>
          <a:noFill/>
          <a:ln/>
        </p:spPr>
        <p:txBody>
          <a:bodyPr wrap="square" lIns="0" tIns="0" rIns="0" bIns="0" rtlCol="0" anchor="t"/>
          <a:lstStyle/>
          <a:p>
            <a:pPr indent="0" marL="0">
              <a:lnSpc>
                <a:spcPct val="115000"/>
              </a:lnSpc>
              <a:buNone/>
            </a:pPr>
            <a:r>
              <a:rPr lang="en-US" sz="1250" dirty="0">
                <a:solidFill>
                  <a:srgbClr val="36485A"/>
                </a:solidFill>
                <a:latin typeface="Calibri" pitchFamily="34" charset="0"/>
                <a:ea typeface="Calibri" pitchFamily="34" charset="-122"/>
                <a:cs typeface="Calibri" pitchFamily="34" charset="-120"/>
              </a:rPr>
              <a:t>Mobile operators earn from every API call and gain a public safety story they can put on stage.</a:t>
            </a:r>
            <a:endParaRPr lang="en-US" sz="1250" dirty="0"/>
          </a:p>
        </p:txBody>
      </p:sp>
      <p:sp>
        <p:nvSpPr>
          <p:cNvPr id="16" name="Shape 14"/>
          <p:cNvSpPr/>
          <p:nvPr/>
        </p:nvSpPr>
        <p:spPr>
          <a:xfrm>
            <a:off x="621792" y="3977640"/>
            <a:ext cx="457200" cy="457200"/>
          </a:xfrm>
          <a:prstGeom prst="ellipse">
            <a:avLst/>
          </a:prstGeom>
          <a:solidFill>
            <a:srgbClr val="1C7293"/>
          </a:solidFill>
          <a:ln w="12700">
            <a:solidFill>
              <a:srgbClr val="1C7293"/>
            </a:solidFill>
            <a:prstDash val="solid"/>
          </a:ln>
        </p:spPr>
      </p:sp>
      <p:sp>
        <p:nvSpPr>
          <p:cNvPr id="17" name="Text 15"/>
          <p:cNvSpPr/>
          <p:nvPr/>
        </p:nvSpPr>
        <p:spPr>
          <a:xfrm>
            <a:off x="621792"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6"/>
          <p:cNvSpPr/>
          <p:nvPr/>
        </p:nvSpPr>
        <p:spPr>
          <a:xfrm>
            <a:off x="1280160" y="3959352"/>
            <a:ext cx="1031443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Week 1 of the prototype phase</a:t>
            </a:r>
            <a:endParaRPr lang="en-US" sz="1500" dirty="0"/>
          </a:p>
        </p:txBody>
      </p:sp>
      <p:sp>
        <p:nvSpPr>
          <p:cNvPr id="19" name="Text 17"/>
          <p:cNvSpPr/>
          <p:nvPr/>
        </p:nvSpPr>
        <p:spPr>
          <a:xfrm>
            <a:off x="1280160" y="4233672"/>
            <a:ext cx="10314432" cy="393192"/>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Enrolment, consent, per line geofences and the reachability check on Nokia simulator numbers.</a:t>
            </a:r>
            <a:endParaRPr lang="en-US" sz="1300" dirty="0"/>
          </a:p>
        </p:txBody>
      </p:sp>
      <p:sp>
        <p:nvSpPr>
          <p:cNvPr id="20" name="Shape 18"/>
          <p:cNvSpPr/>
          <p:nvPr/>
        </p:nvSpPr>
        <p:spPr>
          <a:xfrm>
            <a:off x="621792" y="4690872"/>
            <a:ext cx="457200" cy="457200"/>
          </a:xfrm>
          <a:prstGeom prst="ellipse">
            <a:avLst/>
          </a:prstGeom>
          <a:solidFill>
            <a:srgbClr val="1C7293"/>
          </a:solidFill>
          <a:ln w="12700">
            <a:solidFill>
              <a:srgbClr val="1C7293"/>
            </a:solidFill>
            <a:prstDash val="solid"/>
          </a:ln>
        </p:spPr>
      </p:sp>
      <p:sp>
        <p:nvSpPr>
          <p:cNvPr id="21" name="Text 19"/>
          <p:cNvSpPr/>
          <p:nvPr/>
        </p:nvSpPr>
        <p:spPr>
          <a:xfrm>
            <a:off x="621792" y="46908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20"/>
          <p:cNvSpPr/>
          <p:nvPr/>
        </p:nvSpPr>
        <p:spPr>
          <a:xfrm>
            <a:off x="1280160" y="4672584"/>
            <a:ext cx="1031443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Week 2</a:t>
            </a:r>
            <a:endParaRPr lang="en-US" sz="1500" dirty="0"/>
          </a:p>
        </p:txBody>
      </p:sp>
      <p:sp>
        <p:nvSpPr>
          <p:cNvPr id="23" name="Text 21"/>
          <p:cNvSpPr/>
          <p:nvPr/>
        </p:nvSpPr>
        <p:spPr>
          <a:xfrm>
            <a:off x="1280160" y="4946904"/>
            <a:ext cx="10314432" cy="393192"/>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Levels per zone, congestion reading, quality booking and the three list team map.</a:t>
            </a:r>
            <a:endParaRPr lang="en-US" sz="1300" dirty="0"/>
          </a:p>
        </p:txBody>
      </p:sp>
      <p:sp>
        <p:nvSpPr>
          <p:cNvPr id="24" name="Shape 22"/>
          <p:cNvSpPr/>
          <p:nvPr/>
        </p:nvSpPr>
        <p:spPr>
          <a:xfrm>
            <a:off x="621792" y="5404104"/>
            <a:ext cx="457200" cy="457200"/>
          </a:xfrm>
          <a:prstGeom prst="ellipse">
            <a:avLst/>
          </a:prstGeom>
          <a:solidFill>
            <a:srgbClr val="1C7293"/>
          </a:solidFill>
          <a:ln w="12700">
            <a:solidFill>
              <a:srgbClr val="1C7293"/>
            </a:solidFill>
            <a:prstDash val="solid"/>
          </a:ln>
        </p:spPr>
      </p:sp>
      <p:sp>
        <p:nvSpPr>
          <p:cNvPr id="25" name="Text 23"/>
          <p:cNvSpPr/>
          <p:nvPr/>
        </p:nvSpPr>
        <p:spPr>
          <a:xfrm>
            <a:off x="621792" y="54041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p:nvPr/>
        </p:nvSpPr>
        <p:spPr>
          <a:xfrm>
            <a:off x="1280160" y="5385816"/>
            <a:ext cx="10314432" cy="274320"/>
          </a:xfrm>
          <a:prstGeom prst="rect">
            <a:avLst/>
          </a:prstGeom>
          <a:noFill/>
          <a:ln/>
        </p:spPr>
        <p:txBody>
          <a:bodyPr wrap="square" lIns="0" tIns="0" rIns="0" bIns="0" rtlCol="0" anchor="ctr"/>
          <a:lstStyle/>
          <a:p>
            <a:pPr indent="0" marL="0">
              <a:buNone/>
            </a:pPr>
            <a:r>
              <a:rPr lang="en-US" sz="1500" b="1" dirty="0">
                <a:solidFill>
                  <a:srgbClr val="10233F"/>
                </a:solidFill>
                <a:latin typeface="Calibri" pitchFamily="34" charset="0"/>
                <a:ea typeface="Calibri" pitchFamily="34" charset="-122"/>
                <a:cs typeface="Calibri" pitchFamily="34" charset="-120"/>
              </a:rPr>
              <a:t>After the hackathon</a:t>
            </a:r>
            <a:endParaRPr lang="en-US" sz="1500" dirty="0"/>
          </a:p>
        </p:txBody>
      </p:sp>
      <p:sp>
        <p:nvSpPr>
          <p:cNvPr id="27" name="Text 25"/>
          <p:cNvSpPr/>
          <p:nvPr/>
        </p:nvSpPr>
        <p:spPr>
          <a:xfrm>
            <a:off x="1280160" y="5660136"/>
            <a:ext cx="10314432" cy="393192"/>
          </a:xfrm>
          <a:prstGeom prst="rect">
            <a:avLst/>
          </a:prstGeom>
          <a:noFill/>
          <a:ln/>
        </p:spPr>
        <p:txBody>
          <a:bodyPr wrap="square" lIns="0" tIns="0" rIns="0" bIns="0" rtlCol="0" anchor="t"/>
          <a:lstStyle/>
          <a:p>
            <a:pPr indent="0" marL="0">
              <a:lnSpc>
                <a:spcPct val="115000"/>
              </a:lnSpc>
              <a:buNone/>
            </a:pPr>
            <a:r>
              <a:rPr lang="en-US" sz="1300" dirty="0">
                <a:solidFill>
                  <a:srgbClr val="36485A"/>
                </a:solidFill>
                <a:latin typeface="Calibri" pitchFamily="34" charset="0"/>
                <a:ea typeface="Calibri" pitchFamily="34" charset="-122"/>
                <a:cs typeface="Calibri" pitchFamily="34" charset="-120"/>
              </a:rPr>
              <a:t>One paid pilot with a building site or a mine, then one Turkish municipality.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33F"/>
        </a:solidFill>
      </p:bgPr>
    </p:bg>
    <p:spTree>
      <p:nvGrpSpPr>
        <p:cNvPr id="1" name=""/>
        <p:cNvGrpSpPr/>
        <p:nvPr/>
      </p:nvGrpSpPr>
      <p:grpSpPr>
        <a:xfrm>
          <a:off x="0" y="0"/>
          <a:ext cx="0" cy="0"/>
          <a:chOff x="0" y="0"/>
          <a:chExt cx="0" cy="0"/>
        </a:xfrm>
      </p:grpSpPr>
      <p:sp>
        <p:nvSpPr>
          <p:cNvPr id="2" name="Shape 0"/>
          <p:cNvSpPr/>
          <p:nvPr/>
        </p:nvSpPr>
        <p:spPr>
          <a:xfrm>
            <a:off x="-1463040" y="3840480"/>
            <a:ext cx="4023360" cy="4023360"/>
          </a:xfrm>
          <a:prstGeom prst="ellipse">
            <a:avLst/>
          </a:prstGeom>
          <a:solidFill>
            <a:srgbClr val="1C7293">
              <a:alpha val="50000"/>
            </a:srgbClr>
          </a:solidFill>
          <a:ln w="12700">
            <a:solidFill>
              <a:srgbClr val="1C7293">
                <a:alpha val="0"/>
              </a:srgbClr>
            </a:solidFill>
            <a:prstDash val="solid"/>
          </a:ln>
        </p:spPr>
      </p:sp>
      <p:sp>
        <p:nvSpPr>
          <p:cNvPr id="3" name="Text 1"/>
          <p:cNvSpPr/>
          <p:nvPr/>
        </p:nvSpPr>
        <p:spPr>
          <a:xfrm>
            <a:off x="914400" y="1600200"/>
            <a:ext cx="8229600" cy="320040"/>
          </a:xfrm>
          <a:prstGeom prst="rect">
            <a:avLst/>
          </a:prstGeom>
          <a:noFill/>
          <a:ln/>
        </p:spPr>
        <p:txBody>
          <a:bodyPr wrap="square" lIns="0" tIns="0" rIns="0" bIns="0" rtlCol="0" anchor="ctr"/>
          <a:lstStyle/>
          <a:p>
            <a:pPr indent="0" marL="0">
              <a:buNone/>
            </a:pPr>
            <a:r>
              <a:rPr lang="en-US" sz="1300" b="1" spc="300" kern="0" dirty="0">
                <a:solidFill>
                  <a:srgbClr val="E8A33D"/>
                </a:solidFill>
                <a:latin typeface="Calibri" pitchFamily="34" charset="0"/>
                <a:ea typeface="Calibri" pitchFamily="34" charset="-122"/>
                <a:cs typeface="Calibri" pitchFamily="34" charset="-120"/>
              </a:rPr>
              <a:t>WADI WATCH</a:t>
            </a:r>
            <a:endParaRPr lang="en-US" sz="1300" dirty="0"/>
          </a:p>
        </p:txBody>
      </p:sp>
      <p:sp>
        <p:nvSpPr>
          <p:cNvPr id="4" name="Text 2"/>
          <p:cNvSpPr/>
          <p:nvPr/>
        </p:nvSpPr>
        <p:spPr>
          <a:xfrm>
            <a:off x="914400" y="2103120"/>
            <a:ext cx="10332720" cy="137160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The alert that matters is the one that came back unanswered.</a:t>
            </a:r>
            <a:endParaRPr lang="en-US" sz="4400" dirty="0"/>
          </a:p>
        </p:txBody>
      </p:sp>
      <p:sp>
        <p:nvSpPr>
          <p:cNvPr id="5" name="Text 3"/>
          <p:cNvSpPr/>
          <p:nvPr/>
        </p:nvSpPr>
        <p:spPr>
          <a:xfrm>
            <a:off x="914400" y="3794760"/>
            <a:ext cx="9601200" cy="822960"/>
          </a:xfrm>
          <a:prstGeom prst="rect">
            <a:avLst/>
          </a:prstGeom>
          <a:noFill/>
          <a:ln/>
        </p:spPr>
        <p:txBody>
          <a:bodyPr wrap="square" lIns="0" tIns="0" rIns="0" bIns="0" rtlCol="0" anchor="ctr"/>
          <a:lstStyle/>
          <a:p>
            <a:pPr indent="0" marL="0">
              <a:lnSpc>
                <a:spcPct val="120000"/>
              </a:lnSpc>
              <a:buNone/>
            </a:pPr>
            <a:r>
              <a:rPr lang="en-US" sz="1800" dirty="0">
                <a:solidFill>
                  <a:srgbClr val="C5D8E4"/>
                </a:solidFill>
                <a:latin typeface="Calibri" pitchFamily="34" charset="0"/>
                <a:ea typeface="Calibri" pitchFamily="34" charset="-122"/>
                <a:cs typeface="Calibri" pitchFamily="34" charset="-120"/>
              </a:rPr>
              <a:t>An AI agent that turns silence into a short search list and keeps the rescue team online while they work.</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Wadi Watch</dc:title>
  <dc:subject>PptxGenJS Presentation</dc:subject>
  <dc:creator>Mert Gungor</dc:creator>
  <cp:lastModifiedBy>Mert Gungor</cp:lastModifiedBy>
  <cp:revision>1</cp:revision>
  <dcterms:created xsi:type="dcterms:W3CDTF">2026-08-23T14:36:34Z</dcterms:created>
  <dcterms:modified xsi:type="dcterms:W3CDTF">2026-08-23T14:36:34Z</dcterms:modified>
</cp:coreProperties>
</file>